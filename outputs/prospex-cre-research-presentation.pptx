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2" d="100"/>
          <a:sy n="162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7F6FDF-B796-4051-BD85-D0C9C7D2C128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619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0">
                <a:solidFill>
                  <a:srgbClr val="050505"/>
                </a:solidFill>
              </a:defRPr>
            </a:pPr>
            <a:r>
              <a:rPr sz="2325" b="0">
                <a:solidFill>
                  <a:srgbClr val="050505"/>
                </a:solidFill>
              </a:rPr>
              <a:t>Prospex CRE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D2975A-49E2-4B53-B653-48200D5C11B6}"/>
              </a:ext>
            </a:extLst>
          </p:cNvPr>
          <p:cNvSpPr>
            <a:spLocks noGrp="1"/>
          </p:cNvSpPr>
          <p:nvPr/>
        </p:nvSpPr>
        <p:spPr>
          <a:xfrm>
            <a:off x="285750" y="6286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050505"/>
                </a:solidFill>
              </a:defRPr>
            </a:pPr>
            <a:r>
              <a:rPr sz="1875" b="0">
                <a:solidFill>
                  <a:srgbClr val="050505"/>
                </a:solidFill>
              </a:rPr>
              <a:t>Beyond Traditional GIS Suitability Modeling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9FB0543-D5EA-4909-823C-835244D296B9}"/>
              </a:ext>
            </a:extLst>
          </p:cNvPr>
          <p:cNvSpPr>
            <a:spLocks noGrp="1"/>
          </p:cNvSpPr>
          <p:nvPr/>
        </p:nvSpPr>
        <p:spPr>
          <a:xfrm>
            <a:off x="285750" y="1019175"/>
            <a:ext cx="8572500" cy="0"/>
          </a:xfrm>
          <a:prstGeom prst="line">
            <a:avLst/>
          </a:prstGeom>
          <a:ln w="952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53291A1-596D-46E1-A7FE-DC22900B3BAA}"/>
              </a:ext>
            </a:extLst>
          </p:cNvPr>
          <p:cNvSpPr>
            <a:spLocks noGrp="1"/>
          </p:cNvSpPr>
          <p:nvPr/>
        </p:nvSpPr>
        <p:spPr>
          <a:xfrm>
            <a:off x="285750" y="1466850"/>
            <a:ext cx="8572500" cy="0"/>
          </a:xfrm>
          <a:prstGeom prst="line">
            <a:avLst/>
          </a:prstGeom>
          <a:ln w="952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D47FC-AAF3-4F23-A3CE-47259BCCEC1A}"/>
              </a:ext>
            </a:extLst>
          </p:cNvPr>
          <p:cNvSpPr>
            <a:spLocks noGrp="1"/>
          </p:cNvSpPr>
          <p:nvPr/>
        </p:nvSpPr>
        <p:spPr>
          <a:xfrm>
            <a:off x="7000875" y="789432"/>
            <a:ext cx="999744" cy="182880"/>
          </a:xfrm>
          <a:prstGeom prst="rect">
            <a:avLst/>
          </a:prstGeom>
          <a:solidFill>
            <a:srgbClr val="F8F8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93C275-BBC3-4D8A-A0C0-F0AB5D7EC224}"/>
              </a:ext>
            </a:extLst>
          </p:cNvPr>
          <p:cNvSpPr>
            <a:spLocks noGrp="1"/>
          </p:cNvSpPr>
          <p:nvPr/>
        </p:nvSpPr>
        <p:spPr>
          <a:xfrm>
            <a:off x="7805547" y="228600"/>
            <a:ext cx="182880" cy="755904"/>
          </a:xfrm>
          <a:prstGeom prst="rect">
            <a:avLst/>
          </a:prstGeom>
          <a:solidFill>
            <a:srgbClr val="F8F8F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BF52DC4A-DABA-463C-8EBA-1FF1E867F525}"/>
              </a:ext>
            </a:extLst>
          </p:cNvPr>
          <p:cNvSpPr>
            <a:spLocks noGrp="1"/>
          </p:cNvSpPr>
          <p:nvPr/>
        </p:nvSpPr>
        <p:spPr>
          <a:xfrm>
            <a:off x="7439787" y="399288"/>
            <a:ext cx="560832" cy="560832"/>
          </a:xfrm>
          <a:prstGeom prst="line">
            <a:avLst/>
          </a:prstGeom>
          <a:ln w="195072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4E68A8-1353-4DF8-B580-A9287A57EBAB}"/>
              </a:ext>
            </a:extLst>
          </p:cNvPr>
          <p:cNvSpPr>
            <a:spLocks noGrp="1"/>
          </p:cNvSpPr>
          <p:nvPr/>
        </p:nvSpPr>
        <p:spPr>
          <a:xfrm>
            <a:off x="285750" y="3857625"/>
            <a:ext cx="5667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050505"/>
                </a:solidFill>
              </a:defRPr>
            </a:pPr>
            <a:r>
              <a:rPr sz="1050" b="0">
                <a:solidFill>
                  <a:srgbClr val="050505"/>
                </a:solidFill>
              </a:rPr>
              <a:t>A machine learning framework for commercial real estate development site selection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226EEE-0483-41BA-B06C-C492C60365CB}"/>
              </a:ext>
            </a:extLst>
          </p:cNvPr>
          <p:cNvSpPr>
            <a:spLocks noGrp="1"/>
          </p:cNvSpPr>
          <p:nvPr/>
        </p:nvSpPr>
        <p:spPr>
          <a:xfrm>
            <a:off x="285750" y="4343400"/>
            <a:ext cx="495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050505"/>
                </a:solidFill>
              </a:defRPr>
            </a:pPr>
            <a:r>
              <a:rPr sz="750" b="0">
                <a:solidFill>
                  <a:srgbClr val="050505"/>
                </a:solidFill>
              </a:rPr>
              <a:t>GIS + ML + SHAP + interactive decision support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5C70AF86-77F0-4CC7-A1C4-84E0D35CBDD3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2A8750-CAC2-4545-A875-A5B3E689C35D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97F124-93AA-4C8B-9C92-1B7BE926AB43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968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C1F0E48-271C-465E-AB59-1916EB0EA598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8F8F8"/>
                </a:solidFill>
              </a:defRPr>
            </a:pPr>
            <a:r>
              <a:rPr sz="975" b="0">
                <a:solidFill>
                  <a:srgbClr val="F8F8F8"/>
                </a:solidFill>
              </a:rPr>
              <a:t>Contents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C041B2D-178E-4BE6-9255-B787DD09AC1D}"/>
              </a:ext>
            </a:extLst>
          </p:cNvPr>
          <p:cNvSpPr>
            <a:spLocks noGrp="1"/>
          </p:cNvSpPr>
          <p:nvPr/>
        </p:nvSpPr>
        <p:spPr>
          <a:xfrm>
            <a:off x="285750" y="1219200"/>
            <a:ext cx="8572500" cy="0"/>
          </a:xfrm>
          <a:prstGeom prst="line">
            <a:avLst/>
          </a:prstGeom>
          <a:ln w="6668">
            <a:solidFill>
              <a:srgbClr val="707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5515BA-4B11-4130-BA1E-B8D46B86CBBD}"/>
              </a:ext>
            </a:extLst>
          </p:cNvPr>
          <p:cNvSpPr>
            <a:spLocks noGrp="1"/>
          </p:cNvSpPr>
          <p:nvPr/>
        </p:nvSpPr>
        <p:spPr>
          <a:xfrm>
            <a:off x="400050" y="762000"/>
            <a:ext cx="228600" cy="22860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D54458-746F-4553-9CAA-8CB896DCA2E2}"/>
              </a:ext>
            </a:extLst>
          </p:cNvPr>
          <p:cNvSpPr>
            <a:spLocks noGrp="1"/>
          </p:cNvSpPr>
          <p:nvPr/>
        </p:nvSpPr>
        <p:spPr>
          <a:xfrm>
            <a:off x="447675" y="800100"/>
            <a:ext cx="171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8F8F8"/>
                </a:solidFill>
              </a:defRPr>
            </a:pPr>
            <a:r>
              <a:rPr sz="675" b="1">
                <a:solidFill>
                  <a:srgbClr val="F8F8F8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FA0A3B-1329-4D8B-AFDB-B85104126326}"/>
              </a:ext>
            </a:extLst>
          </p:cNvPr>
          <p:cNvSpPr>
            <a:spLocks noGrp="1"/>
          </p:cNvSpPr>
          <p:nvPr/>
        </p:nvSpPr>
        <p:spPr>
          <a:xfrm>
            <a:off x="838200" y="74295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8F8F8"/>
                </a:solidFill>
              </a:defRPr>
            </a:pPr>
            <a:r>
              <a:rPr sz="1650" b="0">
                <a:solidFill>
                  <a:srgbClr val="F8F8F8"/>
                </a:solidFill>
              </a:rPr>
              <a:t>Problem and research objectives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EF535F0F-13FB-4364-A66D-65C3C00E56D8}"/>
              </a:ext>
            </a:extLst>
          </p:cNvPr>
          <p:cNvSpPr>
            <a:spLocks noGrp="1"/>
          </p:cNvSpPr>
          <p:nvPr/>
        </p:nvSpPr>
        <p:spPr>
          <a:xfrm>
            <a:off x="285750" y="1962150"/>
            <a:ext cx="8572500" cy="0"/>
          </a:xfrm>
          <a:prstGeom prst="line">
            <a:avLst/>
          </a:prstGeom>
          <a:ln w="6668">
            <a:solidFill>
              <a:srgbClr val="707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AD3AD1-8C05-4FD7-925C-F184879539F0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228600" cy="228600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A0B1A1-47E9-4374-A6DF-B96D326A7172}"/>
              </a:ext>
            </a:extLst>
          </p:cNvPr>
          <p:cNvSpPr>
            <a:spLocks noGrp="1"/>
          </p:cNvSpPr>
          <p:nvPr/>
        </p:nvSpPr>
        <p:spPr>
          <a:xfrm>
            <a:off x="447675" y="1543050"/>
            <a:ext cx="171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050505"/>
                </a:solidFill>
              </a:defRPr>
            </a:pPr>
            <a:r>
              <a:rPr sz="675" b="1">
                <a:solidFill>
                  <a:srgbClr val="050505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2AC22F-47A6-41F3-8D2E-580B822216FB}"/>
              </a:ext>
            </a:extLst>
          </p:cNvPr>
          <p:cNvSpPr>
            <a:spLocks noGrp="1"/>
          </p:cNvSpPr>
          <p:nvPr/>
        </p:nvSpPr>
        <p:spPr>
          <a:xfrm>
            <a:off x="838200" y="148590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8F8F8"/>
                </a:solidFill>
              </a:defRPr>
            </a:pPr>
            <a:r>
              <a:rPr sz="1650" b="0">
                <a:solidFill>
                  <a:srgbClr val="F8F8F8"/>
                </a:solidFill>
              </a:rPr>
              <a:t>Study area, data, and feature engineering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EF9F4B9-2834-406A-A91E-402967D88438}"/>
              </a:ext>
            </a:extLst>
          </p:cNvPr>
          <p:cNvSpPr>
            <a:spLocks noGrp="1"/>
          </p:cNvSpPr>
          <p:nvPr/>
        </p:nvSpPr>
        <p:spPr>
          <a:xfrm>
            <a:off x="285750" y="2705100"/>
            <a:ext cx="8572500" cy="0"/>
          </a:xfrm>
          <a:prstGeom prst="line">
            <a:avLst/>
          </a:prstGeom>
          <a:ln w="6668">
            <a:solidFill>
              <a:srgbClr val="707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D2F49A-9A3E-4763-91B3-DB25C20CCA44}"/>
              </a:ext>
            </a:extLst>
          </p:cNvPr>
          <p:cNvSpPr>
            <a:spLocks noGrp="1"/>
          </p:cNvSpPr>
          <p:nvPr/>
        </p:nvSpPr>
        <p:spPr>
          <a:xfrm>
            <a:off x="400050" y="2247900"/>
            <a:ext cx="228600" cy="228600"/>
          </a:xfrm>
          <a:prstGeom prst="rect">
            <a:avLst/>
          </a:prstGeom>
          <a:solidFill>
            <a:srgbClr val="FF9C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A728C-9BE5-43DA-8F4F-08D0D380B090}"/>
              </a:ext>
            </a:extLst>
          </p:cNvPr>
          <p:cNvSpPr>
            <a:spLocks noGrp="1"/>
          </p:cNvSpPr>
          <p:nvPr/>
        </p:nvSpPr>
        <p:spPr>
          <a:xfrm>
            <a:off x="447675" y="2286000"/>
            <a:ext cx="171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8F8F8"/>
                </a:solidFill>
              </a:defRPr>
            </a:pPr>
            <a:r>
              <a:rPr sz="675" b="1">
                <a:solidFill>
                  <a:srgbClr val="F8F8F8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F507B-C7AA-4D1B-B017-E054D4B0C397}"/>
              </a:ext>
            </a:extLst>
          </p:cNvPr>
          <p:cNvSpPr>
            <a:spLocks noGrp="1"/>
          </p:cNvSpPr>
          <p:nvPr/>
        </p:nvSpPr>
        <p:spPr>
          <a:xfrm>
            <a:off x="838200" y="222885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8F8F8"/>
                </a:solidFill>
              </a:defRPr>
            </a:pPr>
            <a:r>
              <a:rPr sz="1650" b="0">
                <a:solidFill>
                  <a:srgbClr val="F8F8F8"/>
                </a:solidFill>
              </a:rPr>
              <a:t>Methodology and model tournament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3E4C17D3-2C53-42F2-AC1D-950E464A0B01}"/>
              </a:ext>
            </a:extLst>
          </p:cNvPr>
          <p:cNvSpPr>
            <a:spLocks noGrp="1"/>
          </p:cNvSpPr>
          <p:nvPr/>
        </p:nvSpPr>
        <p:spPr>
          <a:xfrm>
            <a:off x="285750" y="3448050"/>
            <a:ext cx="8572500" cy="0"/>
          </a:xfrm>
          <a:prstGeom prst="line">
            <a:avLst/>
          </a:prstGeom>
          <a:ln w="6668">
            <a:solidFill>
              <a:srgbClr val="707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5B0B1F-F371-471C-8094-306331EBC801}"/>
              </a:ext>
            </a:extLst>
          </p:cNvPr>
          <p:cNvSpPr>
            <a:spLocks noGrp="1"/>
          </p:cNvSpPr>
          <p:nvPr/>
        </p:nvSpPr>
        <p:spPr>
          <a:xfrm>
            <a:off x="400050" y="2990850"/>
            <a:ext cx="228600" cy="22860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D0068D-313B-442A-8383-64E789D6730D}"/>
              </a:ext>
            </a:extLst>
          </p:cNvPr>
          <p:cNvSpPr>
            <a:spLocks noGrp="1"/>
          </p:cNvSpPr>
          <p:nvPr/>
        </p:nvSpPr>
        <p:spPr>
          <a:xfrm>
            <a:off x="447675" y="3028950"/>
            <a:ext cx="171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8F8F8"/>
                </a:solidFill>
              </a:defRPr>
            </a:pPr>
            <a:r>
              <a:rPr sz="675" b="1">
                <a:solidFill>
                  <a:srgbClr val="F8F8F8"/>
                </a:solidFill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25626E-BA58-4B86-A783-67EB219F08ED}"/>
              </a:ext>
            </a:extLst>
          </p:cNvPr>
          <p:cNvSpPr>
            <a:spLocks noGrp="1"/>
          </p:cNvSpPr>
          <p:nvPr/>
        </p:nvSpPr>
        <p:spPr>
          <a:xfrm>
            <a:off x="838200" y="297180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8F8F8"/>
                </a:solidFill>
              </a:defRPr>
            </a:pPr>
            <a:r>
              <a:rPr sz="1650" b="0">
                <a:solidFill>
                  <a:srgbClr val="F8F8F8"/>
                </a:solidFill>
              </a:rPr>
              <a:t>Results, SHAP, and Prospex CRE application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989EB8F4-834C-4691-AA20-08F6C5DA01F5}"/>
              </a:ext>
            </a:extLst>
          </p:cNvPr>
          <p:cNvSpPr>
            <a:spLocks noGrp="1"/>
          </p:cNvSpPr>
          <p:nvPr/>
        </p:nvSpPr>
        <p:spPr>
          <a:xfrm>
            <a:off x="285750" y="4191000"/>
            <a:ext cx="8572500" cy="0"/>
          </a:xfrm>
          <a:prstGeom prst="line">
            <a:avLst/>
          </a:prstGeom>
          <a:ln w="6668">
            <a:solidFill>
              <a:srgbClr val="7070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812B52-8722-4FCD-BBF5-8E5FC46BC3D2}"/>
              </a:ext>
            </a:extLst>
          </p:cNvPr>
          <p:cNvSpPr>
            <a:spLocks noGrp="1"/>
          </p:cNvSpPr>
          <p:nvPr/>
        </p:nvSpPr>
        <p:spPr>
          <a:xfrm>
            <a:off x="400050" y="3733800"/>
            <a:ext cx="228600" cy="22860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D779DD-258A-4675-A1DD-871492A3089F}"/>
              </a:ext>
            </a:extLst>
          </p:cNvPr>
          <p:cNvSpPr>
            <a:spLocks noGrp="1"/>
          </p:cNvSpPr>
          <p:nvPr/>
        </p:nvSpPr>
        <p:spPr>
          <a:xfrm>
            <a:off x="447675" y="3771900"/>
            <a:ext cx="1714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8F8F8"/>
                </a:solidFill>
              </a:defRPr>
            </a:pPr>
            <a:r>
              <a:rPr sz="675" b="1">
                <a:solidFill>
                  <a:srgbClr val="F8F8F8"/>
                </a:solidFill>
              </a:rPr>
              <a:t>05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6F833C-3F62-4A12-BE67-3BF6E220DD4D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581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8F8F8"/>
                </a:solidFill>
              </a:defRPr>
            </a:pPr>
            <a:r>
              <a:rPr sz="1650" b="0">
                <a:solidFill>
                  <a:srgbClr val="F8F8F8"/>
                </a:solidFill>
              </a:rPr>
              <a:t>Discussion, future work, and conclusion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0D0AFC98-0A81-4D49-90DB-47854AB4E3DA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1EEB9F7-EF57-4743-92F3-B0F0448A9B31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Prospex CRE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5A3171-E817-4B3A-9077-D7211B23E8E8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1300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A4B5929-5CF5-4D91-85EE-4B56DB03F152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5905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Traditional GIS is useful, but the weighting step limits prediction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87694C-A179-4CD4-9EEB-F63F96480C26}"/>
              </a:ext>
            </a:extLst>
          </p:cNvPr>
          <p:cNvSpPr>
            <a:spLocks noGrp="1"/>
          </p:cNvSpPr>
          <p:nvPr/>
        </p:nvSpPr>
        <p:spPr>
          <a:xfrm>
            <a:off x="7524750" y="753618"/>
            <a:ext cx="562356" cy="10287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9F456-5CB1-4DC8-9A61-A6A8C09DB90C}"/>
              </a:ext>
            </a:extLst>
          </p:cNvPr>
          <p:cNvSpPr>
            <a:spLocks noGrp="1"/>
          </p:cNvSpPr>
          <p:nvPr/>
        </p:nvSpPr>
        <p:spPr>
          <a:xfrm>
            <a:off x="7977378" y="438150"/>
            <a:ext cx="102870" cy="425196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C374DEB-3274-4D75-AD39-751C148F2297}"/>
              </a:ext>
            </a:extLst>
          </p:cNvPr>
          <p:cNvSpPr>
            <a:spLocks noGrp="1"/>
          </p:cNvSpPr>
          <p:nvPr/>
        </p:nvSpPr>
        <p:spPr>
          <a:xfrm>
            <a:off x="7771638" y="534162"/>
            <a:ext cx="315468" cy="315468"/>
          </a:xfrm>
          <a:prstGeom prst="line">
            <a:avLst/>
          </a:prstGeom>
          <a:ln w="109728">
            <a:solidFill>
              <a:srgbClr val="254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3D9E8561-C40F-4B4A-B1E0-1DAF411383D1}"/>
              </a:ext>
            </a:extLst>
          </p:cNvPr>
          <p:cNvSpPr>
            <a:spLocks noGrp="1"/>
          </p:cNvSpPr>
          <p:nvPr/>
        </p:nvSpPr>
        <p:spPr>
          <a:xfrm>
            <a:off x="285750" y="981075"/>
            <a:ext cx="8572500" cy="0"/>
          </a:xfrm>
          <a:prstGeom prst="line">
            <a:avLst/>
          </a:prstGeom>
          <a:ln w="952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919F96-E645-4247-B2C2-EDA40758CBD6}"/>
              </a:ext>
            </a:extLst>
          </p:cNvPr>
          <p:cNvSpPr>
            <a:spLocks noGrp="1"/>
          </p:cNvSpPr>
          <p:nvPr/>
        </p:nvSpPr>
        <p:spPr>
          <a:xfrm>
            <a:off x="4629150" y="3162300"/>
            <a:ext cx="4229100" cy="142875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9FECA-A7D2-4EFE-9CF3-02D2019EE5E9}"/>
              </a:ext>
            </a:extLst>
          </p:cNvPr>
          <p:cNvSpPr>
            <a:spLocks noGrp="1"/>
          </p:cNvSpPr>
          <p:nvPr/>
        </p:nvSpPr>
        <p:spPr>
          <a:xfrm>
            <a:off x="4810125" y="3371850"/>
            <a:ext cx="36671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8F8F8"/>
                </a:solidFill>
              </a:defRPr>
            </a:pPr>
            <a:r>
              <a:rPr sz="1200" b="1">
                <a:solidFill>
                  <a:srgbClr val="F8F8F8"/>
                </a:solidFill>
              </a:rPr>
              <a:t>The problem is not GIS itself; it is the assumption that complex commercial markets can be modeled with fixed linear weights.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28B1BFAD-7E7E-4F98-9CFB-2A3DC82DF73E}"/>
              </a:ext>
            </a:extLst>
          </p:cNvPr>
          <p:cNvSpPr>
            <a:spLocks noGrp="1"/>
          </p:cNvSpPr>
          <p:nvPr/>
        </p:nvSpPr>
        <p:spPr>
          <a:xfrm>
            <a:off x="285750" y="1943100"/>
            <a:ext cx="4019550" cy="0"/>
          </a:xfrm>
          <a:prstGeom prst="line">
            <a:avLst/>
          </a:prstGeom>
          <a:ln w="762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1F5E8D-D6D2-47EC-B9A2-936C7BA05CD0}"/>
              </a:ext>
            </a:extLst>
          </p:cNvPr>
          <p:cNvSpPr>
            <a:spLocks noGrp="1"/>
          </p:cNvSpPr>
          <p:nvPr/>
        </p:nvSpPr>
        <p:spPr>
          <a:xfrm>
            <a:off x="285750" y="148590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42FF"/>
                </a:solidFill>
              </a:defRPr>
            </a:pPr>
            <a:r>
              <a:rPr sz="900" b="1">
                <a:solidFill>
                  <a:srgbClr val="2542FF"/>
                </a:solidFill>
              </a:rPr>
              <a:t>Subjectivity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1F6FEB-485C-45A2-BBAC-9400EE9F31CC}"/>
              </a:ext>
            </a:extLst>
          </p:cNvPr>
          <p:cNvSpPr>
            <a:spLocks noGrp="1"/>
          </p:cNvSpPr>
          <p:nvPr/>
        </p:nvSpPr>
        <p:spPr>
          <a:xfrm>
            <a:off x="1285875" y="148590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1717"/>
                </a:solidFill>
              </a:defRPr>
            </a:pPr>
            <a:r>
              <a:rPr sz="975" b="0">
                <a:solidFill>
                  <a:srgbClr val="171717"/>
                </a:solidFill>
              </a:rPr>
              <a:t>Weighted overlays depend on manually assigned importance scores.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3D186AE6-3751-4D49-875D-63F54B60C067}"/>
              </a:ext>
            </a:extLst>
          </p:cNvPr>
          <p:cNvSpPr>
            <a:spLocks noGrp="1"/>
          </p:cNvSpPr>
          <p:nvPr/>
        </p:nvSpPr>
        <p:spPr>
          <a:xfrm>
            <a:off x="285750" y="2657475"/>
            <a:ext cx="4019550" cy="0"/>
          </a:xfrm>
          <a:prstGeom prst="line">
            <a:avLst/>
          </a:prstGeom>
          <a:ln w="762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8BD3C1-B9E2-4D55-AFD2-25EC64AF4188}"/>
              </a:ext>
            </a:extLst>
          </p:cNvPr>
          <p:cNvSpPr>
            <a:spLocks noGrp="1"/>
          </p:cNvSpPr>
          <p:nvPr/>
        </p:nvSpPr>
        <p:spPr>
          <a:xfrm>
            <a:off x="285750" y="220027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42FF"/>
                </a:solidFill>
              </a:defRPr>
            </a:pPr>
            <a:r>
              <a:rPr sz="900" b="1">
                <a:solidFill>
                  <a:srgbClr val="2542FF"/>
                </a:solidFill>
              </a:rPr>
              <a:t>Linearity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0F4207-73AB-4694-BBE6-8525BB04F6EE}"/>
              </a:ext>
            </a:extLst>
          </p:cNvPr>
          <p:cNvSpPr>
            <a:spLocks noGrp="1"/>
          </p:cNvSpPr>
          <p:nvPr/>
        </p:nvSpPr>
        <p:spPr>
          <a:xfrm>
            <a:off x="1285875" y="2200275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1717"/>
                </a:solidFill>
              </a:defRPr>
            </a:pPr>
            <a:r>
              <a:rPr sz="975" b="0">
                <a:solidFill>
                  <a:srgbClr val="171717"/>
                </a:solidFill>
              </a:rPr>
              <a:t>Commercial viability reflects interactions among income, access, employment, and existing activity.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DDAE6179-8AE5-44BF-A3FB-70EE476675B0}"/>
              </a:ext>
            </a:extLst>
          </p:cNvPr>
          <p:cNvSpPr>
            <a:spLocks noGrp="1"/>
          </p:cNvSpPr>
          <p:nvPr/>
        </p:nvSpPr>
        <p:spPr>
          <a:xfrm>
            <a:off x="285750" y="3371850"/>
            <a:ext cx="4019550" cy="0"/>
          </a:xfrm>
          <a:prstGeom prst="line">
            <a:avLst/>
          </a:prstGeom>
          <a:ln w="762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934C8B-BF81-4919-9A3C-1D547F18F82E}"/>
              </a:ext>
            </a:extLst>
          </p:cNvPr>
          <p:cNvSpPr>
            <a:spLocks noGrp="1"/>
          </p:cNvSpPr>
          <p:nvPr/>
        </p:nvSpPr>
        <p:spPr>
          <a:xfrm>
            <a:off x="285750" y="2914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42FF"/>
                </a:solidFill>
              </a:defRPr>
            </a:pPr>
            <a:r>
              <a:rPr sz="900" b="1">
                <a:solidFill>
                  <a:srgbClr val="2542FF"/>
                </a:solidFill>
              </a:rPr>
              <a:t>Transparency gap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616B6B-987B-48E2-9AB4-FD7B55FDAD37}"/>
              </a:ext>
            </a:extLst>
          </p:cNvPr>
          <p:cNvSpPr>
            <a:spLocks noGrp="1"/>
          </p:cNvSpPr>
          <p:nvPr/>
        </p:nvSpPr>
        <p:spPr>
          <a:xfrm>
            <a:off x="1285875" y="291465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1717"/>
                </a:solidFill>
              </a:defRPr>
            </a:pPr>
            <a:r>
              <a:rPr sz="975" b="0">
                <a:solidFill>
                  <a:srgbClr val="171717"/>
                </a:solidFill>
              </a:rPr>
              <a:t>High-performing models still need explanations that decision makers can trust.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B48F018-6998-4FD0-96C2-426CE745ADF9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4A9932-0505-4533-8DC3-A3940B8BD0BE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615024-92C2-463A-9F6F-987DEEE61EAE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1299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57DC5E-4E70-442F-AFBB-DB414849C4D7}"/>
              </a:ext>
            </a:extLst>
          </p:cNvPr>
          <p:cNvSpPr>
            <a:spLocks noGrp="1"/>
          </p:cNvSpPr>
          <p:nvPr/>
        </p:nvSpPr>
        <p:spPr>
          <a:xfrm>
            <a:off x="285749" y="285750"/>
            <a:ext cx="7683719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71717"/>
                </a:solidFill>
              </a:defRPr>
            </a:pPr>
            <a:r>
              <a:rPr sz="1950" b="0" dirty="0">
                <a:solidFill>
                  <a:srgbClr val="171717"/>
                </a:solidFill>
              </a:rPr>
              <a:t>The research asks whether ML can improve GIS while staying explainable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2C0A06A-E3FE-4566-A901-4265E189AD6D}"/>
              </a:ext>
            </a:extLst>
          </p:cNvPr>
          <p:cNvSpPr>
            <a:spLocks noGrp="1"/>
          </p:cNvSpPr>
          <p:nvPr/>
        </p:nvSpPr>
        <p:spPr>
          <a:xfrm>
            <a:off x="285750" y="1123950"/>
            <a:ext cx="8572500" cy="0"/>
          </a:xfrm>
          <a:prstGeom prst="line">
            <a:avLst/>
          </a:prstGeom>
          <a:ln w="952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432B61-B81A-4DB7-B682-9823808072AC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361950" cy="361950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076910-0C31-4EFA-A000-7D8C173B46D3}"/>
              </a:ext>
            </a:extLst>
          </p:cNvPr>
          <p:cNvSpPr>
            <a:spLocks noGrp="1"/>
          </p:cNvSpPr>
          <p:nvPr/>
        </p:nvSpPr>
        <p:spPr>
          <a:xfrm>
            <a:off x="86677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4DFD10-F706-4496-B5B4-B395BAD4D372}"/>
              </a:ext>
            </a:extLst>
          </p:cNvPr>
          <p:cNvSpPr>
            <a:spLocks noGrp="1"/>
          </p:cNvSpPr>
          <p:nvPr/>
        </p:nvSpPr>
        <p:spPr>
          <a:xfrm>
            <a:off x="34290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Improve suitability analysis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BC90D-FDC4-4508-9661-3DBDA5CFB352}"/>
              </a:ext>
            </a:extLst>
          </p:cNvPr>
          <p:cNvSpPr>
            <a:spLocks noGrp="1"/>
          </p:cNvSpPr>
          <p:nvPr/>
        </p:nvSpPr>
        <p:spPr>
          <a:xfrm>
            <a:off x="5715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Compare traditional GIS against statistical, ensemble, and spatial machine learning models.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B75DAC-C548-435B-9B91-8A4B8C80B27E}"/>
              </a:ext>
            </a:extLst>
          </p:cNvPr>
          <p:cNvSpPr>
            <a:spLocks noGrp="1"/>
          </p:cNvSpPr>
          <p:nvPr/>
        </p:nvSpPr>
        <p:spPr>
          <a:xfrm>
            <a:off x="3524250" y="1600200"/>
            <a:ext cx="361950" cy="36195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1B6F87-3298-4731-A243-64DCD4FCC99E}"/>
              </a:ext>
            </a:extLst>
          </p:cNvPr>
          <p:cNvSpPr>
            <a:spLocks noGrp="1"/>
          </p:cNvSpPr>
          <p:nvPr/>
        </p:nvSpPr>
        <p:spPr>
          <a:xfrm>
            <a:off x="359092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8F8F8"/>
                </a:solidFill>
              </a:defRPr>
            </a:pPr>
            <a:r>
              <a:rPr sz="750" b="1">
                <a:solidFill>
                  <a:srgbClr val="F8F8F8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9BB3BE-3637-41A7-92CD-BA607E0CF0BE}"/>
              </a:ext>
            </a:extLst>
          </p:cNvPr>
          <p:cNvSpPr>
            <a:spLocks noGrp="1"/>
          </p:cNvSpPr>
          <p:nvPr/>
        </p:nvSpPr>
        <p:spPr>
          <a:xfrm>
            <a:off x="306705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Control the experiment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F8419C-987B-4765-A773-E92E1470D6F4}"/>
              </a:ext>
            </a:extLst>
          </p:cNvPr>
          <p:cNvSpPr>
            <a:spLocks noGrp="1"/>
          </p:cNvSpPr>
          <p:nvPr/>
        </p:nvSpPr>
        <p:spPr>
          <a:xfrm>
            <a:off x="278130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Give every method the same engineered explanatory variables and evaluation data.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6FD374-D7F0-48A1-9664-46D1CDD9473A}"/>
              </a:ext>
            </a:extLst>
          </p:cNvPr>
          <p:cNvSpPr>
            <a:spLocks noGrp="1"/>
          </p:cNvSpPr>
          <p:nvPr/>
        </p:nvSpPr>
        <p:spPr>
          <a:xfrm>
            <a:off x="6248400" y="1600200"/>
            <a:ext cx="361950" cy="361950"/>
          </a:xfrm>
          <a:prstGeom prst="rect">
            <a:avLst/>
          </a:prstGeom>
          <a:solidFill>
            <a:srgbClr val="FF9C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DFC25D-A8A8-469A-8852-DA2557D81B65}"/>
              </a:ext>
            </a:extLst>
          </p:cNvPr>
          <p:cNvSpPr>
            <a:spLocks noGrp="1"/>
          </p:cNvSpPr>
          <p:nvPr/>
        </p:nvSpPr>
        <p:spPr>
          <a:xfrm>
            <a:off x="631507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8F8F8"/>
                </a:solidFill>
              </a:defRPr>
            </a:pPr>
            <a:r>
              <a:rPr sz="750" b="1">
                <a:solidFill>
                  <a:srgbClr val="F8F8F8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E1C80A-4DD2-4C22-B867-32C9669F36AF}"/>
              </a:ext>
            </a:extLst>
          </p:cNvPr>
          <p:cNvSpPr>
            <a:spLocks noGrp="1"/>
          </p:cNvSpPr>
          <p:nvPr/>
        </p:nvSpPr>
        <p:spPr>
          <a:xfrm>
            <a:off x="579120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Keep decisions interpretable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932032-D62E-44F4-AD28-FCCDC4228669}"/>
              </a:ext>
            </a:extLst>
          </p:cNvPr>
          <p:cNvSpPr>
            <a:spLocks noGrp="1"/>
          </p:cNvSpPr>
          <p:nvPr/>
        </p:nvSpPr>
        <p:spPr>
          <a:xfrm>
            <a:off x="550545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Use SHAP to explain tract-level predictions and expose them in a web map.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DC4F672C-D054-4C6C-BD61-3C8B47398A44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E5ACA8-209D-48A3-AFD3-A50D13662B73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EA3B6F-64D6-4B18-8F10-A8D52EBD87F4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18909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EBD8B5B-9ADD-4D84-8846-D6E4723B7AF8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5905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F8F8F8"/>
                </a:solidFill>
              </a:defRPr>
            </a:pPr>
            <a:r>
              <a:rPr sz="2100" b="0">
                <a:solidFill>
                  <a:srgbClr val="F8F8F8"/>
                </a:solidFill>
              </a:rPr>
              <a:t>The study area is the Miami metropolitan region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338734-AA10-4A20-9918-49089886F17D}"/>
              </a:ext>
            </a:extLst>
          </p:cNvPr>
          <p:cNvSpPr>
            <a:spLocks noGrp="1"/>
          </p:cNvSpPr>
          <p:nvPr/>
        </p:nvSpPr>
        <p:spPr>
          <a:xfrm>
            <a:off x="7524750" y="753618"/>
            <a:ext cx="562356" cy="102870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38C82F-EE9A-4E0D-B896-9A0205684541}"/>
              </a:ext>
            </a:extLst>
          </p:cNvPr>
          <p:cNvSpPr>
            <a:spLocks noGrp="1"/>
          </p:cNvSpPr>
          <p:nvPr/>
        </p:nvSpPr>
        <p:spPr>
          <a:xfrm>
            <a:off x="7977378" y="438150"/>
            <a:ext cx="102870" cy="425196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546B193-23BE-44DB-8F30-1D93E6419FA6}"/>
              </a:ext>
            </a:extLst>
          </p:cNvPr>
          <p:cNvSpPr>
            <a:spLocks noGrp="1"/>
          </p:cNvSpPr>
          <p:nvPr/>
        </p:nvSpPr>
        <p:spPr>
          <a:xfrm>
            <a:off x="7771638" y="534162"/>
            <a:ext cx="315468" cy="315468"/>
          </a:xfrm>
          <a:prstGeom prst="line">
            <a:avLst/>
          </a:prstGeom>
          <a:ln w="109728">
            <a:solidFill>
              <a:srgbClr val="FFE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5583B38-1F72-49E5-BB51-124AEB1B7FB8}"/>
              </a:ext>
            </a:extLst>
          </p:cNvPr>
          <p:cNvSpPr>
            <a:spLocks noGrp="1"/>
          </p:cNvSpPr>
          <p:nvPr/>
        </p:nvSpPr>
        <p:spPr>
          <a:xfrm>
            <a:off x="285750" y="981075"/>
            <a:ext cx="8572500" cy="0"/>
          </a:xfrm>
          <a:prstGeom prst="line">
            <a:avLst/>
          </a:prstGeom>
          <a:ln w="9525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70C700-74C6-4B5C-94EE-B91A34638C91}"/>
              </a:ext>
            </a:extLst>
          </p:cNvPr>
          <p:cNvSpPr>
            <a:spLocks noGrp="1"/>
          </p:cNvSpPr>
          <p:nvPr/>
        </p:nvSpPr>
        <p:spPr>
          <a:xfrm>
            <a:off x="4629150" y="3162300"/>
            <a:ext cx="4229100" cy="142875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BFA2D6-CC89-402F-B94C-A1A85C319897}"/>
              </a:ext>
            </a:extLst>
          </p:cNvPr>
          <p:cNvSpPr>
            <a:spLocks noGrp="1"/>
          </p:cNvSpPr>
          <p:nvPr/>
        </p:nvSpPr>
        <p:spPr>
          <a:xfrm>
            <a:off x="4810125" y="3371850"/>
            <a:ext cx="36671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8F8F8"/>
                </a:solidFill>
              </a:defRPr>
            </a:pPr>
            <a:r>
              <a:rPr sz="1200" b="1">
                <a:solidFill>
                  <a:srgbClr val="F8F8F8"/>
                </a:solidFill>
              </a:rPr>
              <a:t>Miami-Dade, Broward, and Palm Beach Counties provide a diverse testbed with mature commercial cores, suburban corridors, and protected lands.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41FBC4A-1E1B-4CE4-BC3A-34E03503E3DF}"/>
              </a:ext>
            </a:extLst>
          </p:cNvPr>
          <p:cNvSpPr>
            <a:spLocks noGrp="1"/>
          </p:cNvSpPr>
          <p:nvPr/>
        </p:nvSpPr>
        <p:spPr>
          <a:xfrm>
            <a:off x="285750" y="1943100"/>
            <a:ext cx="4019550" cy="0"/>
          </a:xfrm>
          <a:prstGeom prst="line">
            <a:avLst/>
          </a:prstGeom>
          <a:ln w="762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E6996C-4081-4CDA-8EA4-E5C707712FE1}"/>
              </a:ext>
            </a:extLst>
          </p:cNvPr>
          <p:cNvSpPr>
            <a:spLocks noGrp="1"/>
          </p:cNvSpPr>
          <p:nvPr/>
        </p:nvSpPr>
        <p:spPr>
          <a:xfrm>
            <a:off x="285750" y="148590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E100"/>
                </a:solidFill>
              </a:defRPr>
            </a:pPr>
            <a:r>
              <a:rPr sz="900" b="1">
                <a:solidFill>
                  <a:srgbClr val="FFE100"/>
                </a:solidFill>
              </a:rPr>
              <a:t>Unit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4C874-543D-4454-B47B-40D4B69246E4}"/>
              </a:ext>
            </a:extLst>
          </p:cNvPr>
          <p:cNvSpPr>
            <a:spLocks noGrp="1"/>
          </p:cNvSpPr>
          <p:nvPr/>
        </p:nvSpPr>
        <p:spPr>
          <a:xfrm>
            <a:off x="1285875" y="148590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8F8F8"/>
                </a:solidFill>
              </a:defRPr>
            </a:pPr>
            <a:r>
              <a:rPr sz="975" b="0">
                <a:solidFill>
                  <a:srgbClr val="F8F8F8"/>
                </a:solidFill>
              </a:rPr>
              <a:t>U.S. Census tracts were used as the common spatial unit.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913E0EC2-5333-4E7F-AF6B-96AB0A716640}"/>
              </a:ext>
            </a:extLst>
          </p:cNvPr>
          <p:cNvSpPr>
            <a:spLocks noGrp="1"/>
          </p:cNvSpPr>
          <p:nvPr/>
        </p:nvSpPr>
        <p:spPr>
          <a:xfrm>
            <a:off x="285750" y="2657475"/>
            <a:ext cx="4019550" cy="0"/>
          </a:xfrm>
          <a:prstGeom prst="line">
            <a:avLst/>
          </a:prstGeom>
          <a:ln w="762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C8BCF4-58D1-456A-B456-4000563C565A}"/>
              </a:ext>
            </a:extLst>
          </p:cNvPr>
          <p:cNvSpPr>
            <a:spLocks noGrp="1"/>
          </p:cNvSpPr>
          <p:nvPr/>
        </p:nvSpPr>
        <p:spPr>
          <a:xfrm>
            <a:off x="285750" y="220027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E100"/>
                </a:solidFill>
              </a:defRPr>
            </a:pPr>
            <a:r>
              <a:rPr sz="900" b="1">
                <a:solidFill>
                  <a:srgbClr val="FFE100"/>
                </a:solidFill>
              </a:rPr>
              <a:t>Scale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9DA6BC-5660-407D-8098-D1960E56F221}"/>
              </a:ext>
            </a:extLst>
          </p:cNvPr>
          <p:cNvSpPr>
            <a:spLocks noGrp="1"/>
          </p:cNvSpPr>
          <p:nvPr/>
        </p:nvSpPr>
        <p:spPr>
          <a:xfrm>
            <a:off x="1285875" y="2200275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8F8F8"/>
                </a:solidFill>
              </a:defRPr>
            </a:pPr>
            <a:r>
              <a:rPr sz="975" b="0">
                <a:solidFill>
                  <a:srgbClr val="F8F8F8"/>
                </a:solidFill>
              </a:rPr>
              <a:t>The final analytical dataset includes about 1,461 candidate tracts.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F8992963-C8F9-46BA-A47D-C7A1EB9210A6}"/>
              </a:ext>
            </a:extLst>
          </p:cNvPr>
          <p:cNvSpPr>
            <a:spLocks noGrp="1"/>
          </p:cNvSpPr>
          <p:nvPr/>
        </p:nvSpPr>
        <p:spPr>
          <a:xfrm>
            <a:off x="285750" y="3371850"/>
            <a:ext cx="4019550" cy="0"/>
          </a:xfrm>
          <a:prstGeom prst="line">
            <a:avLst/>
          </a:prstGeom>
          <a:ln w="762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123B1C-C30F-41E3-A579-A3C8E946ACEF}"/>
              </a:ext>
            </a:extLst>
          </p:cNvPr>
          <p:cNvSpPr>
            <a:spLocks noGrp="1"/>
          </p:cNvSpPr>
          <p:nvPr/>
        </p:nvSpPr>
        <p:spPr>
          <a:xfrm>
            <a:off x="285750" y="2914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E100"/>
                </a:solidFill>
              </a:defRPr>
            </a:pPr>
            <a:r>
              <a:rPr sz="900" b="1">
                <a:solidFill>
                  <a:srgbClr val="FFE100"/>
                </a:solidFill>
              </a:rPr>
              <a:t>Validation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C1BD17-D3EE-48A3-AB3E-0D9712B3A8BC}"/>
              </a:ext>
            </a:extLst>
          </p:cNvPr>
          <p:cNvSpPr>
            <a:spLocks noGrp="1"/>
          </p:cNvSpPr>
          <p:nvPr/>
        </p:nvSpPr>
        <p:spPr>
          <a:xfrm>
            <a:off x="1285875" y="291465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8F8F8"/>
                </a:solidFill>
              </a:defRPr>
            </a:pPr>
            <a:r>
              <a:rPr sz="975" b="0">
                <a:solidFill>
                  <a:srgbClr val="F8F8F8"/>
                </a:solidFill>
              </a:rPr>
              <a:t>Predictions were checked against known commercial centers such as Brickell, Las Olas, Boca Raton, and West Palm Beach.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3C8C69D-E4B7-4C40-B646-75F7E3419145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29823A-D0C1-4D44-96D0-AAC751616285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Prospex CRE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98B638-0302-4095-A829-87F5677F1ED0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8044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21DEFB-60BA-4796-A524-9D5CFD99C1A1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</a:rPr>
              <a:t>Public datasets make the framework reproducible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FD30CF5D-7824-4486-9322-C0D21B12710F}"/>
              </a:ext>
            </a:extLst>
          </p:cNvPr>
          <p:cNvSpPr>
            <a:spLocks noGrp="1"/>
          </p:cNvSpPr>
          <p:nvPr/>
        </p:nvSpPr>
        <p:spPr>
          <a:xfrm>
            <a:off x="285750" y="1066800"/>
            <a:ext cx="8572500" cy="0"/>
          </a:xfrm>
          <a:prstGeom prst="line">
            <a:avLst/>
          </a:prstGeom>
          <a:ln w="1143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AAE80-AC5D-4D7B-9483-597BD4991EFC}"/>
              </a:ext>
            </a:extLst>
          </p:cNvPr>
          <p:cNvSpPr>
            <a:spLocks noGrp="1"/>
          </p:cNvSpPr>
          <p:nvPr/>
        </p:nvSpPr>
        <p:spPr>
          <a:xfrm>
            <a:off x="361950" y="1209675"/>
            <a:ext cx="2276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5F5F"/>
                </a:solidFill>
              </a:defRPr>
            </a:pPr>
            <a:r>
              <a:rPr sz="750" b="1">
                <a:solidFill>
                  <a:srgbClr val="5F5F5F"/>
                </a:solidFill>
              </a:rPr>
              <a:t>Source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82E0C-42A0-4227-972B-49BDFE73395C}"/>
              </a:ext>
            </a:extLst>
          </p:cNvPr>
          <p:cNvSpPr>
            <a:spLocks noGrp="1"/>
          </p:cNvSpPr>
          <p:nvPr/>
        </p:nvSpPr>
        <p:spPr>
          <a:xfrm>
            <a:off x="2790825" y="1209675"/>
            <a:ext cx="2752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5F5F"/>
                </a:solidFill>
              </a:defRPr>
            </a:pPr>
            <a:r>
              <a:rPr sz="750" b="1">
                <a:solidFill>
                  <a:srgbClr val="5F5F5F"/>
                </a:solidFill>
              </a:rPr>
              <a:t>Role in the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CCC300-7237-43D3-ABE7-4FAA6E8D7D6D}"/>
              </a:ext>
            </a:extLst>
          </p:cNvPr>
          <p:cNvSpPr>
            <a:spLocks noGrp="1"/>
          </p:cNvSpPr>
          <p:nvPr/>
        </p:nvSpPr>
        <p:spPr>
          <a:xfrm>
            <a:off x="5695950" y="1209675"/>
            <a:ext cx="3086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5F5F"/>
                </a:solidFill>
              </a:defRPr>
            </a:pPr>
            <a:r>
              <a:rPr sz="750" b="1">
                <a:solidFill>
                  <a:srgbClr val="5F5F5F"/>
                </a:solidFill>
              </a:rPr>
              <a:t>Key variables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E3EAD007-F379-4128-9251-2BB6D24BD2B1}"/>
              </a:ext>
            </a:extLst>
          </p:cNvPr>
          <p:cNvSpPr>
            <a:spLocks noGrp="1"/>
          </p:cNvSpPr>
          <p:nvPr/>
        </p:nvSpPr>
        <p:spPr>
          <a:xfrm>
            <a:off x="285750" y="152400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B31D29-0394-48BE-BE9B-0858092856A2}"/>
              </a:ext>
            </a:extLst>
          </p:cNvPr>
          <p:cNvSpPr>
            <a:spLocks noGrp="1"/>
          </p:cNvSpPr>
          <p:nvPr/>
        </p:nvSpPr>
        <p:spPr>
          <a:xfrm>
            <a:off x="361950" y="164782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ACS 5-Year Estimates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7B9D70-4144-4BF5-AA75-27F246FBFA69}"/>
              </a:ext>
            </a:extLst>
          </p:cNvPr>
          <p:cNvSpPr>
            <a:spLocks noGrp="1"/>
          </p:cNvSpPr>
          <p:nvPr/>
        </p:nvSpPr>
        <p:spPr>
          <a:xfrm>
            <a:off x="2790825" y="164782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Demographic and socioeconomic 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AB7D20-7E9C-47A5-98DA-7A0C15DE6F25}"/>
              </a:ext>
            </a:extLst>
          </p:cNvPr>
          <p:cNvSpPr>
            <a:spLocks noGrp="1"/>
          </p:cNvSpPr>
          <p:nvPr/>
        </p:nvSpPr>
        <p:spPr>
          <a:xfrm>
            <a:off x="5695950" y="164782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Population, housing, income, home value, employment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0DEF7EA8-B378-472F-A76F-571B022DD653}"/>
              </a:ext>
            </a:extLst>
          </p:cNvPr>
          <p:cNvSpPr>
            <a:spLocks noGrp="1"/>
          </p:cNvSpPr>
          <p:nvPr/>
        </p:nvSpPr>
        <p:spPr>
          <a:xfrm>
            <a:off x="285750" y="203835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2B406C-E90E-42C3-BE6C-88CC04658A99}"/>
              </a:ext>
            </a:extLst>
          </p:cNvPr>
          <p:cNvSpPr>
            <a:spLocks noGrp="1"/>
          </p:cNvSpPr>
          <p:nvPr/>
        </p:nvSpPr>
        <p:spPr>
          <a:xfrm>
            <a:off x="361950" y="216217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TIGER/Line Shapefiles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3D9A3F-EF66-4AB6-9567-66D3D9F04771}"/>
              </a:ext>
            </a:extLst>
          </p:cNvPr>
          <p:cNvSpPr>
            <a:spLocks noGrp="1"/>
          </p:cNvSpPr>
          <p:nvPr/>
        </p:nvSpPr>
        <p:spPr>
          <a:xfrm>
            <a:off x="2790825" y="216217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Spatial framework for joins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EB371E-EAEE-4BC7-9C52-7914881808FA}"/>
              </a:ext>
            </a:extLst>
          </p:cNvPr>
          <p:cNvSpPr>
            <a:spLocks noGrp="1"/>
          </p:cNvSpPr>
          <p:nvPr/>
        </p:nvSpPr>
        <p:spPr>
          <a:xfrm>
            <a:off x="5695950" y="216217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Census tract boundaries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BA0FA861-2E16-4651-B097-8B6F41025F7E}"/>
              </a:ext>
            </a:extLst>
          </p:cNvPr>
          <p:cNvSpPr>
            <a:spLocks noGrp="1"/>
          </p:cNvSpPr>
          <p:nvPr/>
        </p:nvSpPr>
        <p:spPr>
          <a:xfrm>
            <a:off x="285750" y="255270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C7A5A2-A08D-47B1-A7FE-1D9930D0095C}"/>
              </a:ext>
            </a:extLst>
          </p:cNvPr>
          <p:cNvSpPr>
            <a:spLocks noGrp="1"/>
          </p:cNvSpPr>
          <p:nvPr/>
        </p:nvSpPr>
        <p:spPr>
          <a:xfrm>
            <a:off x="361950" y="267652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OpenStreetMap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E439E4-0A13-4A72-A41C-A5D7A1F6AE70}"/>
              </a:ext>
            </a:extLst>
          </p:cNvPr>
          <p:cNvSpPr>
            <a:spLocks noGrp="1"/>
          </p:cNvSpPr>
          <p:nvPr/>
        </p:nvSpPr>
        <p:spPr>
          <a:xfrm>
            <a:off x="2790825" y="267652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Commercial activity and infrastructure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9D4912-27BE-438D-834B-23945DEA87C8}"/>
              </a:ext>
            </a:extLst>
          </p:cNvPr>
          <p:cNvSpPr>
            <a:spLocks noGrp="1"/>
          </p:cNvSpPr>
          <p:nvPr/>
        </p:nvSpPr>
        <p:spPr>
          <a:xfrm>
            <a:off x="5695950" y="267652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POIs, road network, commercial land uses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98FEEF77-1D5B-4547-997A-95C9B5D8E1F9}"/>
              </a:ext>
            </a:extLst>
          </p:cNvPr>
          <p:cNvSpPr>
            <a:spLocks noGrp="1"/>
          </p:cNvSpPr>
          <p:nvPr/>
        </p:nvSpPr>
        <p:spPr>
          <a:xfrm>
            <a:off x="285750" y="306705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BAC9F5-5919-442D-B9FD-3BED6DA48F0B}"/>
              </a:ext>
            </a:extLst>
          </p:cNvPr>
          <p:cNvSpPr>
            <a:spLocks noGrp="1"/>
          </p:cNvSpPr>
          <p:nvPr/>
        </p:nvSpPr>
        <p:spPr>
          <a:xfrm>
            <a:off x="361950" y="319087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Derived GIS layers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060E0B-B605-4698-A958-9D1A3DDD00D1}"/>
              </a:ext>
            </a:extLst>
          </p:cNvPr>
          <p:cNvSpPr>
            <a:spLocks noGrp="1"/>
          </p:cNvSpPr>
          <p:nvPr/>
        </p:nvSpPr>
        <p:spPr>
          <a:xfrm>
            <a:off x="2790825" y="319087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Decision-ready predictors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346836-B9DD-4F26-9EDF-8E70A5770D79}"/>
              </a:ext>
            </a:extLst>
          </p:cNvPr>
          <p:cNvSpPr>
            <a:spLocks noGrp="1"/>
          </p:cNvSpPr>
          <p:nvPr/>
        </p:nvSpPr>
        <p:spPr>
          <a:xfrm>
            <a:off x="5695950" y="319087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Density, accessibility, land-use intensity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83A7BF01-8694-45D9-A117-05E399C18008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81EB02-6CED-4B30-A321-D4E4FE91A687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415EC4-1258-401A-AFD9-21B6C42895A7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92284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8C2A232-5AAC-461F-B527-A9B32984EE00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</a:rPr>
              <a:t>Feature engineering converts raw geography into commercial signals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80DB330F-A50E-4097-9443-750BF34B14C9}"/>
              </a:ext>
            </a:extLst>
          </p:cNvPr>
          <p:cNvSpPr>
            <a:spLocks noGrp="1"/>
          </p:cNvSpPr>
          <p:nvPr/>
        </p:nvSpPr>
        <p:spPr>
          <a:xfrm>
            <a:off x="285750" y="1066800"/>
            <a:ext cx="8572500" cy="0"/>
          </a:xfrm>
          <a:prstGeom prst="line">
            <a:avLst/>
          </a:prstGeom>
          <a:ln w="1143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45F1D-9824-46C7-98E1-D82828CFCD46}"/>
              </a:ext>
            </a:extLst>
          </p:cNvPr>
          <p:cNvSpPr>
            <a:spLocks noGrp="1"/>
          </p:cNvSpPr>
          <p:nvPr/>
        </p:nvSpPr>
        <p:spPr>
          <a:xfrm>
            <a:off x="361950" y="1209675"/>
            <a:ext cx="2276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5F5F"/>
                </a:solidFill>
              </a:defRPr>
            </a:pPr>
            <a:r>
              <a:rPr sz="750" b="1">
                <a:solidFill>
                  <a:srgbClr val="5F5F5F"/>
                </a:solidFill>
              </a:rPr>
              <a:t>Feature family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E81B09-6029-4CD1-9C25-25F58D5CD52E}"/>
              </a:ext>
            </a:extLst>
          </p:cNvPr>
          <p:cNvSpPr>
            <a:spLocks noGrp="1"/>
          </p:cNvSpPr>
          <p:nvPr/>
        </p:nvSpPr>
        <p:spPr>
          <a:xfrm>
            <a:off x="2790825" y="1209675"/>
            <a:ext cx="2752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5F5F"/>
                </a:solidFill>
              </a:defRPr>
            </a:pPr>
            <a:r>
              <a:rPr sz="750" b="1">
                <a:solidFill>
                  <a:srgbClr val="5F5F5F"/>
                </a:solidFill>
              </a:rPr>
              <a:t>What it captures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DB5507-9E7A-435F-9037-F8130580BAAF}"/>
              </a:ext>
            </a:extLst>
          </p:cNvPr>
          <p:cNvSpPr>
            <a:spLocks noGrp="1"/>
          </p:cNvSpPr>
          <p:nvPr/>
        </p:nvSpPr>
        <p:spPr>
          <a:xfrm>
            <a:off x="5695950" y="1209675"/>
            <a:ext cx="3086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5F5F"/>
                </a:solidFill>
              </a:defRPr>
            </a:pPr>
            <a:r>
              <a:rPr sz="750" b="1">
                <a:solidFill>
                  <a:srgbClr val="5F5F5F"/>
                </a:solidFill>
              </a:rPr>
              <a:t>Why it matters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7CDCA872-4E1E-4C00-9252-9B94831F2724}"/>
              </a:ext>
            </a:extLst>
          </p:cNvPr>
          <p:cNvSpPr>
            <a:spLocks noGrp="1"/>
          </p:cNvSpPr>
          <p:nvPr/>
        </p:nvSpPr>
        <p:spPr>
          <a:xfrm>
            <a:off x="285750" y="152400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5E4A2B-42CC-460D-AF97-B7FA8EE8A13B}"/>
              </a:ext>
            </a:extLst>
          </p:cNvPr>
          <p:cNvSpPr>
            <a:spLocks noGrp="1"/>
          </p:cNvSpPr>
          <p:nvPr/>
        </p:nvSpPr>
        <p:spPr>
          <a:xfrm>
            <a:off x="361950" y="164782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Demand intensity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AF2A36-924E-4CA4-BC9C-D9C756ED0F37}"/>
              </a:ext>
            </a:extLst>
          </p:cNvPr>
          <p:cNvSpPr>
            <a:spLocks noGrp="1"/>
          </p:cNvSpPr>
          <p:nvPr/>
        </p:nvSpPr>
        <p:spPr>
          <a:xfrm>
            <a:off x="2790825" y="164782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Population and housing density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9AE62-5210-46F4-8209-1D3847820EBF}"/>
              </a:ext>
            </a:extLst>
          </p:cNvPr>
          <p:cNvSpPr>
            <a:spLocks noGrp="1"/>
          </p:cNvSpPr>
          <p:nvPr/>
        </p:nvSpPr>
        <p:spPr>
          <a:xfrm>
            <a:off x="5695950" y="164782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Market depth and built-environment maturity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90A19E7C-238A-4DC0-A3A0-4B6A015020D6}"/>
              </a:ext>
            </a:extLst>
          </p:cNvPr>
          <p:cNvSpPr>
            <a:spLocks noGrp="1"/>
          </p:cNvSpPr>
          <p:nvPr/>
        </p:nvSpPr>
        <p:spPr>
          <a:xfrm>
            <a:off x="285750" y="203835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741ED0-32EB-4FDC-BC68-57FFBAD47E46}"/>
              </a:ext>
            </a:extLst>
          </p:cNvPr>
          <p:cNvSpPr>
            <a:spLocks noGrp="1"/>
          </p:cNvSpPr>
          <p:nvPr/>
        </p:nvSpPr>
        <p:spPr>
          <a:xfrm>
            <a:off x="361950" y="216217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Economic capacity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5F7251-CA09-47B2-B602-47690BA75644}"/>
              </a:ext>
            </a:extLst>
          </p:cNvPr>
          <p:cNvSpPr>
            <a:spLocks noGrp="1"/>
          </p:cNvSpPr>
          <p:nvPr/>
        </p:nvSpPr>
        <p:spPr>
          <a:xfrm>
            <a:off x="2790825" y="216217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Median income and home value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CB26C9-9816-4D08-9804-9623B7F3F841}"/>
              </a:ext>
            </a:extLst>
          </p:cNvPr>
          <p:cNvSpPr>
            <a:spLocks noGrp="1"/>
          </p:cNvSpPr>
          <p:nvPr/>
        </p:nvSpPr>
        <p:spPr>
          <a:xfrm>
            <a:off x="5695950" y="216217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Purchasing power and market confidence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6F2CB66-BBDC-41F6-95EE-DB39BBBF90A5}"/>
              </a:ext>
            </a:extLst>
          </p:cNvPr>
          <p:cNvSpPr>
            <a:spLocks noGrp="1"/>
          </p:cNvSpPr>
          <p:nvPr/>
        </p:nvSpPr>
        <p:spPr>
          <a:xfrm>
            <a:off x="285750" y="255270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36F4E3-5D6F-435A-BA84-CF266293E4A0}"/>
              </a:ext>
            </a:extLst>
          </p:cNvPr>
          <p:cNvSpPr>
            <a:spLocks noGrp="1"/>
          </p:cNvSpPr>
          <p:nvPr/>
        </p:nvSpPr>
        <p:spPr>
          <a:xfrm>
            <a:off x="361950" y="267652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Commercial activity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A272E3-9BFC-4B82-90A5-A086E3BC1DE9}"/>
              </a:ext>
            </a:extLst>
          </p:cNvPr>
          <p:cNvSpPr>
            <a:spLocks noGrp="1"/>
          </p:cNvSpPr>
          <p:nvPr/>
        </p:nvSpPr>
        <p:spPr>
          <a:xfrm>
            <a:off x="2790825" y="267652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Commercial POI score and land-use index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1B4463-DC58-4C50-9CA2-9E464D86F702}"/>
              </a:ext>
            </a:extLst>
          </p:cNvPr>
          <p:cNvSpPr>
            <a:spLocks noGrp="1"/>
          </p:cNvSpPr>
          <p:nvPr/>
        </p:nvSpPr>
        <p:spPr>
          <a:xfrm>
            <a:off x="5695950" y="267652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Business clustering and infrastructure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8F3FF1B7-A320-4C63-9EAC-BF25098B0928}"/>
              </a:ext>
            </a:extLst>
          </p:cNvPr>
          <p:cNvSpPr>
            <a:spLocks noGrp="1"/>
          </p:cNvSpPr>
          <p:nvPr/>
        </p:nvSpPr>
        <p:spPr>
          <a:xfrm>
            <a:off x="285750" y="306705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E16C48-12D6-4B4A-A632-4397A59686F3}"/>
              </a:ext>
            </a:extLst>
          </p:cNvPr>
          <p:cNvSpPr>
            <a:spLocks noGrp="1"/>
          </p:cNvSpPr>
          <p:nvPr/>
        </p:nvSpPr>
        <p:spPr>
          <a:xfrm>
            <a:off x="361950" y="319087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Access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78ECBA-557D-453A-8D42-157E2BA47946}"/>
              </a:ext>
            </a:extLst>
          </p:cNvPr>
          <p:cNvSpPr>
            <a:spLocks noGrp="1"/>
          </p:cNvSpPr>
          <p:nvPr/>
        </p:nvSpPr>
        <p:spPr>
          <a:xfrm>
            <a:off x="2790825" y="319087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Employment density and road accessibility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1F47A7-FA47-4B78-A0B5-838C2E4B10B0}"/>
              </a:ext>
            </a:extLst>
          </p:cNvPr>
          <p:cNvSpPr>
            <a:spLocks noGrp="1"/>
          </p:cNvSpPr>
          <p:nvPr/>
        </p:nvSpPr>
        <p:spPr>
          <a:xfrm>
            <a:off x="5695950" y="319087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Daytime demand and regional connectivity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AF749BF6-A7D2-4A3F-8C78-3F68E6DF4F57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7D7509-5CEC-49A7-832C-14857BEA38C3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90E5CA-5FEA-44E6-91D0-D69C916C9989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2183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E1C2B0F-F64B-45E7-B61F-D4A1FA2AFF41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619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F8F8F8"/>
                </a:solidFill>
              </a:defRPr>
            </a:pPr>
            <a:r>
              <a:rPr sz="2100" b="0">
                <a:solidFill>
                  <a:srgbClr val="F8F8F8"/>
                </a:solidFill>
              </a:rPr>
              <a:t>The methodology keeps the comparison controlled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637E0D-8133-43EE-9609-84B9A5115B81}"/>
              </a:ext>
            </a:extLst>
          </p:cNvPr>
          <p:cNvSpPr>
            <a:spLocks noGrp="1"/>
          </p:cNvSpPr>
          <p:nvPr/>
        </p:nvSpPr>
        <p:spPr>
          <a:xfrm>
            <a:off x="361950" y="12573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8F8F8"/>
                </a:solidFill>
              </a:defRPr>
            </a:pPr>
            <a:r>
              <a:rPr sz="1575" b="0">
                <a:solidFill>
                  <a:srgbClr val="F8F8F8"/>
                </a:solidFill>
              </a:rPr>
              <a:t>Step 1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8650F262-DEE4-4DFF-95C8-87F54A1E592A}"/>
              </a:ext>
            </a:extLst>
          </p:cNvPr>
          <p:cNvSpPr>
            <a:spLocks noGrp="1"/>
          </p:cNvSpPr>
          <p:nvPr/>
        </p:nvSpPr>
        <p:spPr>
          <a:xfrm>
            <a:off x="361950" y="1600200"/>
            <a:ext cx="1066800" cy="0"/>
          </a:xfrm>
          <a:prstGeom prst="line">
            <a:avLst/>
          </a:prstGeom>
          <a:ln w="1333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6681BB-FC3C-4EC7-9F3E-A6EEFEE112D9}"/>
              </a:ext>
            </a:extLst>
          </p:cNvPr>
          <p:cNvSpPr>
            <a:spLocks noGrp="1"/>
          </p:cNvSpPr>
          <p:nvPr/>
        </p:nvSpPr>
        <p:spPr>
          <a:xfrm>
            <a:off x="361950" y="1905000"/>
            <a:ext cx="1104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>
                <a:solidFill>
                  <a:srgbClr val="D8D8D8"/>
                </a:solidFill>
              </a:defRPr>
            </a:pPr>
            <a:r>
              <a:rPr sz="788" b="0">
                <a:solidFill>
                  <a:srgbClr val="D8D8D8"/>
                </a:solidFill>
              </a:rPr>
              <a:t>Acquire public demographic, tract, road, POI, and land-use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F13F33-59F6-49C5-B01A-D475FC4CB43E}"/>
              </a:ext>
            </a:extLst>
          </p:cNvPr>
          <p:cNvSpPr>
            <a:spLocks noGrp="1"/>
          </p:cNvSpPr>
          <p:nvPr/>
        </p:nvSpPr>
        <p:spPr>
          <a:xfrm>
            <a:off x="1771650" y="12573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FE100"/>
                </a:solidFill>
              </a:defRPr>
            </a:pPr>
            <a:r>
              <a:rPr sz="1575" b="0">
                <a:solidFill>
                  <a:srgbClr val="FFE100"/>
                </a:solidFill>
              </a:rPr>
              <a:t>Step 2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D091CAB8-4451-4406-91C7-6A85A023938D}"/>
              </a:ext>
            </a:extLst>
          </p:cNvPr>
          <p:cNvSpPr>
            <a:spLocks noGrp="1"/>
          </p:cNvSpPr>
          <p:nvPr/>
        </p:nvSpPr>
        <p:spPr>
          <a:xfrm>
            <a:off x="1771650" y="1600200"/>
            <a:ext cx="1066800" cy="0"/>
          </a:xfrm>
          <a:prstGeom prst="line">
            <a:avLst/>
          </a:prstGeom>
          <a:ln w="13335">
            <a:solidFill>
              <a:srgbClr val="FFE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BB6BB5-5FDA-4173-8E7B-2660007B1744}"/>
              </a:ext>
            </a:extLst>
          </p:cNvPr>
          <p:cNvSpPr>
            <a:spLocks noGrp="1"/>
          </p:cNvSpPr>
          <p:nvPr/>
        </p:nvSpPr>
        <p:spPr>
          <a:xfrm>
            <a:off x="1771650" y="1905000"/>
            <a:ext cx="1104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>
                <a:solidFill>
                  <a:srgbClr val="D8D8D8"/>
                </a:solidFill>
              </a:defRPr>
            </a:pPr>
            <a:r>
              <a:rPr sz="788" b="0">
                <a:solidFill>
                  <a:srgbClr val="D8D8D8"/>
                </a:solidFill>
              </a:rPr>
              <a:t>Preprocess, spatially join, impute missing values, and standardize numeric predictors.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6FE2A8-04D1-4427-B07B-57794EDB4763}"/>
              </a:ext>
            </a:extLst>
          </p:cNvPr>
          <p:cNvSpPr>
            <a:spLocks noGrp="1"/>
          </p:cNvSpPr>
          <p:nvPr/>
        </p:nvSpPr>
        <p:spPr>
          <a:xfrm>
            <a:off x="3181350" y="12573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8F8F8"/>
                </a:solidFill>
              </a:defRPr>
            </a:pPr>
            <a:r>
              <a:rPr sz="1575" b="0">
                <a:solidFill>
                  <a:srgbClr val="F8F8F8"/>
                </a:solidFill>
              </a:rPr>
              <a:t>Step 3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6AD9703E-692D-4034-A34C-F58B4048026B}"/>
              </a:ext>
            </a:extLst>
          </p:cNvPr>
          <p:cNvSpPr>
            <a:spLocks noGrp="1"/>
          </p:cNvSpPr>
          <p:nvPr/>
        </p:nvSpPr>
        <p:spPr>
          <a:xfrm>
            <a:off x="3181350" y="1600200"/>
            <a:ext cx="1066800" cy="0"/>
          </a:xfrm>
          <a:prstGeom prst="line">
            <a:avLst/>
          </a:prstGeom>
          <a:ln w="1333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3F042C-91DA-49F7-AB1C-7570D9BC85F4}"/>
              </a:ext>
            </a:extLst>
          </p:cNvPr>
          <p:cNvSpPr>
            <a:spLocks noGrp="1"/>
          </p:cNvSpPr>
          <p:nvPr/>
        </p:nvSpPr>
        <p:spPr>
          <a:xfrm>
            <a:off x="3181350" y="1905000"/>
            <a:ext cx="1104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>
                <a:solidFill>
                  <a:srgbClr val="D8D8D8"/>
                </a:solidFill>
              </a:defRPr>
            </a:pPr>
            <a:r>
              <a:rPr sz="788" b="0">
                <a:solidFill>
                  <a:srgbClr val="D8D8D8"/>
                </a:solidFill>
              </a:rPr>
              <a:t>Engineer commercial activity, land-use, density, and accessibility features.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E0E50D-7493-4668-AF4A-19AD0ED5C925}"/>
              </a:ext>
            </a:extLst>
          </p:cNvPr>
          <p:cNvSpPr>
            <a:spLocks noGrp="1"/>
          </p:cNvSpPr>
          <p:nvPr/>
        </p:nvSpPr>
        <p:spPr>
          <a:xfrm>
            <a:off x="4591050" y="12573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8F8F8"/>
                </a:solidFill>
              </a:defRPr>
            </a:pPr>
            <a:r>
              <a:rPr sz="1575" b="0">
                <a:solidFill>
                  <a:srgbClr val="F8F8F8"/>
                </a:solidFill>
              </a:rPr>
              <a:t>Step 4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AEAF8BC3-6DC7-432F-BE1E-F412683BB0E8}"/>
              </a:ext>
            </a:extLst>
          </p:cNvPr>
          <p:cNvSpPr>
            <a:spLocks noGrp="1"/>
          </p:cNvSpPr>
          <p:nvPr/>
        </p:nvSpPr>
        <p:spPr>
          <a:xfrm>
            <a:off x="4591050" y="1600200"/>
            <a:ext cx="1066800" cy="0"/>
          </a:xfrm>
          <a:prstGeom prst="line">
            <a:avLst/>
          </a:prstGeom>
          <a:ln w="1333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00348-48AA-4D9D-811C-1FA06C43CBC6}"/>
              </a:ext>
            </a:extLst>
          </p:cNvPr>
          <p:cNvSpPr>
            <a:spLocks noGrp="1"/>
          </p:cNvSpPr>
          <p:nvPr/>
        </p:nvSpPr>
        <p:spPr>
          <a:xfrm>
            <a:off x="4591050" y="1905000"/>
            <a:ext cx="1104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>
                <a:solidFill>
                  <a:srgbClr val="D8D8D8"/>
                </a:solidFill>
              </a:defRPr>
            </a:pPr>
            <a:r>
              <a:rPr sz="788" b="0">
                <a:solidFill>
                  <a:srgbClr val="D8D8D8"/>
                </a:solidFill>
              </a:rPr>
              <a:t>Train competing models on the same dataset and target.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141DDC-2EE3-4C56-A275-683A1788EF18}"/>
              </a:ext>
            </a:extLst>
          </p:cNvPr>
          <p:cNvSpPr>
            <a:spLocks noGrp="1"/>
          </p:cNvSpPr>
          <p:nvPr/>
        </p:nvSpPr>
        <p:spPr>
          <a:xfrm>
            <a:off x="6000750" y="12573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8F8F8"/>
                </a:solidFill>
              </a:defRPr>
            </a:pPr>
            <a:r>
              <a:rPr sz="1575" b="0">
                <a:solidFill>
                  <a:srgbClr val="F8F8F8"/>
                </a:solidFill>
              </a:rPr>
              <a:t>Step 5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1EE072B-B656-42DD-84B0-2193E1C96AAE}"/>
              </a:ext>
            </a:extLst>
          </p:cNvPr>
          <p:cNvSpPr>
            <a:spLocks noGrp="1"/>
          </p:cNvSpPr>
          <p:nvPr/>
        </p:nvSpPr>
        <p:spPr>
          <a:xfrm>
            <a:off x="6000750" y="1600200"/>
            <a:ext cx="1066800" cy="0"/>
          </a:xfrm>
          <a:prstGeom prst="line">
            <a:avLst/>
          </a:prstGeom>
          <a:ln w="1333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DDE56C-6736-4B87-A609-C1224B1DEA8C}"/>
              </a:ext>
            </a:extLst>
          </p:cNvPr>
          <p:cNvSpPr>
            <a:spLocks noGrp="1"/>
          </p:cNvSpPr>
          <p:nvPr/>
        </p:nvSpPr>
        <p:spPr>
          <a:xfrm>
            <a:off x="6000750" y="1905000"/>
            <a:ext cx="1104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>
                <a:solidFill>
                  <a:srgbClr val="D8D8D8"/>
                </a:solidFill>
              </a:defRPr>
            </a:pPr>
            <a:r>
              <a:rPr sz="788" b="0">
                <a:solidFill>
                  <a:srgbClr val="D8D8D8"/>
                </a:solidFill>
              </a:rPr>
              <a:t>Evaluate with RMSE, MAE, R², and a composite ranking.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9B57EB-A37C-487F-A38E-94F6ACFD23D5}"/>
              </a:ext>
            </a:extLst>
          </p:cNvPr>
          <p:cNvSpPr>
            <a:spLocks noGrp="1"/>
          </p:cNvSpPr>
          <p:nvPr/>
        </p:nvSpPr>
        <p:spPr>
          <a:xfrm>
            <a:off x="7410450" y="12573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8F8F8"/>
                </a:solidFill>
              </a:defRPr>
            </a:pPr>
            <a:r>
              <a:rPr sz="1575" b="0">
                <a:solidFill>
                  <a:srgbClr val="F8F8F8"/>
                </a:solidFill>
              </a:rPr>
              <a:t>Step 6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FDB3DBC6-8081-4F86-A92B-B8C8882CB2F1}"/>
              </a:ext>
            </a:extLst>
          </p:cNvPr>
          <p:cNvSpPr>
            <a:spLocks noGrp="1"/>
          </p:cNvSpPr>
          <p:nvPr/>
        </p:nvSpPr>
        <p:spPr>
          <a:xfrm>
            <a:off x="7410450" y="1600200"/>
            <a:ext cx="1066800" cy="0"/>
          </a:xfrm>
          <a:prstGeom prst="line">
            <a:avLst/>
          </a:prstGeom>
          <a:ln w="13335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B6697B-F7B2-4491-ABEC-AAAB89E28CA1}"/>
              </a:ext>
            </a:extLst>
          </p:cNvPr>
          <p:cNvSpPr>
            <a:spLocks noGrp="1"/>
          </p:cNvSpPr>
          <p:nvPr/>
        </p:nvSpPr>
        <p:spPr>
          <a:xfrm>
            <a:off x="7410450" y="1905000"/>
            <a:ext cx="11049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>
                <a:solidFill>
                  <a:srgbClr val="D8D8D8"/>
                </a:solidFill>
              </a:defRPr>
            </a:pPr>
            <a:r>
              <a:rPr sz="788" b="0">
                <a:solidFill>
                  <a:srgbClr val="D8D8D8"/>
                </a:solidFill>
              </a:rPr>
              <a:t>Deploy final predictions and SHAP drivers into the Prospex CRE app.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861228F0-BAE3-47A7-AA94-E203704CB2A4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FF8AE9-3FD0-4D95-A0A0-CA5E344EEDE9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Prospex CRE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59299F-1040-4CEB-B70D-0C215B21D83F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8897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A66747BF-A0A1-43F5-AEC1-2CE2CCEBACFB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F8F8F8"/>
                </a:solidFill>
              </a:defRPr>
            </a:pPr>
            <a:r>
              <a:rPr sz="1875" b="0">
                <a:solidFill>
                  <a:srgbClr val="F8F8F8"/>
                </a:solidFill>
              </a:rPr>
              <a:t>Five approaches form the model tournament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C62AE64-37EF-4816-B027-AEFF296C096F}"/>
              </a:ext>
            </a:extLst>
          </p:cNvPr>
          <p:cNvSpPr>
            <a:spLocks noGrp="1"/>
          </p:cNvSpPr>
          <p:nvPr/>
        </p:nvSpPr>
        <p:spPr>
          <a:xfrm>
            <a:off x="285750" y="1066800"/>
            <a:ext cx="8572500" cy="0"/>
          </a:xfrm>
          <a:prstGeom prst="line">
            <a:avLst/>
          </a:prstGeom>
          <a:ln w="11430">
            <a:solidFill>
              <a:srgbClr val="F8F8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65EAB5-6343-4C88-A18D-6633442FA5EC}"/>
              </a:ext>
            </a:extLst>
          </p:cNvPr>
          <p:cNvSpPr>
            <a:spLocks noGrp="1"/>
          </p:cNvSpPr>
          <p:nvPr/>
        </p:nvSpPr>
        <p:spPr>
          <a:xfrm>
            <a:off x="361950" y="1209675"/>
            <a:ext cx="2276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D8D8D8"/>
                </a:solidFill>
              </a:defRPr>
            </a:pPr>
            <a:r>
              <a:rPr sz="750" b="1">
                <a:solidFill>
                  <a:srgbClr val="D8D8D8"/>
                </a:solidFill>
              </a:rPr>
              <a:t>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933B1-8955-4165-BA27-3832700D08F3}"/>
              </a:ext>
            </a:extLst>
          </p:cNvPr>
          <p:cNvSpPr>
            <a:spLocks noGrp="1"/>
          </p:cNvSpPr>
          <p:nvPr/>
        </p:nvSpPr>
        <p:spPr>
          <a:xfrm>
            <a:off x="2790825" y="1209675"/>
            <a:ext cx="2752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D8D8D8"/>
                </a:solidFill>
              </a:defRPr>
            </a:pPr>
            <a:r>
              <a:rPr sz="750" b="1">
                <a:solidFill>
                  <a:srgbClr val="D8D8D8"/>
                </a:solidFill>
              </a:rPr>
              <a:t>Purpose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40E26C-CFBA-40B0-A0C4-D08999588609}"/>
              </a:ext>
            </a:extLst>
          </p:cNvPr>
          <p:cNvSpPr>
            <a:spLocks noGrp="1"/>
          </p:cNvSpPr>
          <p:nvPr/>
        </p:nvSpPr>
        <p:spPr>
          <a:xfrm>
            <a:off x="5695950" y="1209675"/>
            <a:ext cx="3086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D8D8D8"/>
                </a:solidFill>
              </a:defRPr>
            </a:pPr>
            <a:r>
              <a:rPr sz="750" b="1">
                <a:solidFill>
                  <a:srgbClr val="D8D8D8"/>
                </a:solidFill>
              </a:rPr>
              <a:t>Key limitation or strength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9752AC11-70E9-4E56-885A-CBEB055B0DDB}"/>
              </a:ext>
            </a:extLst>
          </p:cNvPr>
          <p:cNvSpPr>
            <a:spLocks noGrp="1"/>
          </p:cNvSpPr>
          <p:nvPr/>
        </p:nvSpPr>
        <p:spPr>
          <a:xfrm>
            <a:off x="285750" y="1524000"/>
            <a:ext cx="8572500" cy="0"/>
          </a:xfrm>
          <a:prstGeom prst="line">
            <a:avLst/>
          </a:prstGeom>
          <a:ln w="762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F58916-65A2-4D75-AB3F-8985C3357E28}"/>
              </a:ext>
            </a:extLst>
          </p:cNvPr>
          <p:cNvSpPr>
            <a:spLocks noGrp="1"/>
          </p:cNvSpPr>
          <p:nvPr/>
        </p:nvSpPr>
        <p:spPr>
          <a:xfrm>
            <a:off x="361950" y="164782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8F8F8"/>
                </a:solidFill>
              </a:defRPr>
            </a:pPr>
            <a:r>
              <a:rPr sz="900" b="1">
                <a:solidFill>
                  <a:srgbClr val="F8F8F8"/>
                </a:solidFill>
              </a:rPr>
              <a:t>Traditional GIS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0CA0D0-E208-44E7-B191-9D685718BBC2}"/>
              </a:ext>
            </a:extLst>
          </p:cNvPr>
          <p:cNvSpPr>
            <a:spLocks noGrp="1"/>
          </p:cNvSpPr>
          <p:nvPr/>
        </p:nvSpPr>
        <p:spPr>
          <a:xfrm>
            <a:off x="2790825" y="164782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8F8F8"/>
                </a:solidFill>
              </a:defRPr>
            </a:pPr>
            <a:r>
              <a:rPr sz="900" b="0">
                <a:solidFill>
                  <a:srgbClr val="F8F8F8"/>
                </a:solidFill>
              </a:rPr>
              <a:t>Planning benchmark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5FE88D-DF62-4C11-9724-369FDC02E18B}"/>
              </a:ext>
            </a:extLst>
          </p:cNvPr>
          <p:cNvSpPr>
            <a:spLocks noGrp="1"/>
          </p:cNvSpPr>
          <p:nvPr/>
        </p:nvSpPr>
        <p:spPr>
          <a:xfrm>
            <a:off x="5695950" y="164782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8F8F8"/>
                </a:solidFill>
              </a:defRPr>
            </a:pPr>
            <a:r>
              <a:rPr sz="900" b="0">
                <a:solidFill>
                  <a:srgbClr val="F8F8F8"/>
                </a:solidFill>
              </a:rPr>
              <a:t>Transparent, but weight-driven and linear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B6A52FD6-1901-4EE9-B819-8F63232F1739}"/>
              </a:ext>
            </a:extLst>
          </p:cNvPr>
          <p:cNvSpPr>
            <a:spLocks noGrp="1"/>
          </p:cNvSpPr>
          <p:nvPr/>
        </p:nvSpPr>
        <p:spPr>
          <a:xfrm>
            <a:off x="285750" y="2038350"/>
            <a:ext cx="8572500" cy="0"/>
          </a:xfrm>
          <a:prstGeom prst="line">
            <a:avLst/>
          </a:prstGeom>
          <a:ln w="762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34653D-31F0-46F5-9677-598DBE8A5541}"/>
              </a:ext>
            </a:extLst>
          </p:cNvPr>
          <p:cNvSpPr>
            <a:spLocks noGrp="1"/>
          </p:cNvSpPr>
          <p:nvPr/>
        </p:nvSpPr>
        <p:spPr>
          <a:xfrm>
            <a:off x="361950" y="216217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8F8F8"/>
                </a:solidFill>
              </a:defRPr>
            </a:pPr>
            <a:r>
              <a:rPr sz="900" b="1">
                <a:solidFill>
                  <a:srgbClr val="F8F8F8"/>
                </a:solidFill>
              </a:rPr>
              <a:t>OLS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AE3A1F-DBDA-4ED2-9A8D-09B6E3CE337B}"/>
              </a:ext>
            </a:extLst>
          </p:cNvPr>
          <p:cNvSpPr>
            <a:spLocks noGrp="1"/>
          </p:cNvSpPr>
          <p:nvPr/>
        </p:nvSpPr>
        <p:spPr>
          <a:xfrm>
            <a:off x="2790825" y="216217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8F8F8"/>
                </a:solidFill>
              </a:defRPr>
            </a:pPr>
            <a:r>
              <a:rPr sz="900" b="0">
                <a:solidFill>
                  <a:srgbClr val="F8F8F8"/>
                </a:solidFill>
              </a:rPr>
              <a:t>Statistical baseline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22795C-C026-4ED0-A6A2-7E3B77CFC436}"/>
              </a:ext>
            </a:extLst>
          </p:cNvPr>
          <p:cNvSpPr>
            <a:spLocks noGrp="1"/>
          </p:cNvSpPr>
          <p:nvPr/>
        </p:nvSpPr>
        <p:spPr>
          <a:xfrm>
            <a:off x="5695950" y="216217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8F8F8"/>
                </a:solidFill>
              </a:defRPr>
            </a:pPr>
            <a:r>
              <a:rPr sz="900" b="0">
                <a:solidFill>
                  <a:srgbClr val="F8F8F8"/>
                </a:solidFill>
              </a:rPr>
              <a:t>Data-derived coefficients, but still linear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F21F32E-7AB9-45AE-AA9E-B0A549E8D34E}"/>
              </a:ext>
            </a:extLst>
          </p:cNvPr>
          <p:cNvSpPr>
            <a:spLocks noGrp="1"/>
          </p:cNvSpPr>
          <p:nvPr/>
        </p:nvSpPr>
        <p:spPr>
          <a:xfrm>
            <a:off x="285750" y="2552700"/>
            <a:ext cx="8572500" cy="0"/>
          </a:xfrm>
          <a:prstGeom prst="line">
            <a:avLst/>
          </a:prstGeom>
          <a:ln w="762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37516E-5F29-4861-8608-E956FB54904F}"/>
              </a:ext>
            </a:extLst>
          </p:cNvPr>
          <p:cNvSpPr>
            <a:spLocks noGrp="1"/>
          </p:cNvSpPr>
          <p:nvPr/>
        </p:nvSpPr>
        <p:spPr>
          <a:xfrm>
            <a:off x="361950" y="267652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8F8F8"/>
                </a:solidFill>
              </a:defRPr>
            </a:pPr>
            <a:r>
              <a:rPr sz="900" b="1">
                <a:solidFill>
                  <a:srgbClr val="F8F8F8"/>
                </a:solidFill>
              </a:rPr>
              <a:t>Random Forest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7A91C6-75DB-44AD-9770-197FD8C0EC29}"/>
              </a:ext>
            </a:extLst>
          </p:cNvPr>
          <p:cNvSpPr>
            <a:spLocks noGrp="1"/>
          </p:cNvSpPr>
          <p:nvPr/>
        </p:nvSpPr>
        <p:spPr>
          <a:xfrm>
            <a:off x="2790825" y="267652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8F8F8"/>
                </a:solidFill>
              </a:defRPr>
            </a:pPr>
            <a:r>
              <a:rPr sz="900" b="0">
                <a:solidFill>
                  <a:srgbClr val="F8F8F8"/>
                </a:solidFill>
              </a:rPr>
              <a:t>Nonlinear ensemble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D55AF1-A647-4B14-B9BA-242470637CBF}"/>
              </a:ext>
            </a:extLst>
          </p:cNvPr>
          <p:cNvSpPr>
            <a:spLocks noGrp="1"/>
          </p:cNvSpPr>
          <p:nvPr/>
        </p:nvSpPr>
        <p:spPr>
          <a:xfrm>
            <a:off x="5695950" y="267652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8F8F8"/>
                </a:solidFill>
              </a:defRPr>
            </a:pPr>
            <a:r>
              <a:rPr sz="900" b="0">
                <a:solidFill>
                  <a:srgbClr val="F8F8F8"/>
                </a:solidFill>
              </a:rPr>
              <a:t>Learns interactions without manual weights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B000570A-1FE0-4148-97E2-096E36282F4E}"/>
              </a:ext>
            </a:extLst>
          </p:cNvPr>
          <p:cNvSpPr>
            <a:spLocks noGrp="1"/>
          </p:cNvSpPr>
          <p:nvPr/>
        </p:nvSpPr>
        <p:spPr>
          <a:xfrm>
            <a:off x="285750" y="3067050"/>
            <a:ext cx="8572500" cy="0"/>
          </a:xfrm>
          <a:prstGeom prst="line">
            <a:avLst/>
          </a:prstGeom>
          <a:ln w="762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A25A85-1F77-4FAB-94BC-5225E1DA7110}"/>
              </a:ext>
            </a:extLst>
          </p:cNvPr>
          <p:cNvSpPr>
            <a:spLocks noGrp="1"/>
          </p:cNvSpPr>
          <p:nvPr/>
        </p:nvSpPr>
        <p:spPr>
          <a:xfrm>
            <a:off x="361950" y="319087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8F8F8"/>
                </a:solidFill>
              </a:defRPr>
            </a:pPr>
            <a:r>
              <a:rPr sz="900" b="1">
                <a:solidFill>
                  <a:srgbClr val="F8F8F8"/>
                </a:solidFill>
              </a:rPr>
              <a:t>XGBoost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2CC26E-9D3A-48F9-9820-66EE1D6012CC}"/>
              </a:ext>
            </a:extLst>
          </p:cNvPr>
          <p:cNvSpPr>
            <a:spLocks noGrp="1"/>
          </p:cNvSpPr>
          <p:nvPr/>
        </p:nvSpPr>
        <p:spPr>
          <a:xfrm>
            <a:off x="2790825" y="319087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8F8F8"/>
                </a:solidFill>
              </a:defRPr>
            </a:pPr>
            <a:r>
              <a:rPr sz="900" b="0">
                <a:solidFill>
                  <a:srgbClr val="F8F8F8"/>
                </a:solidFill>
              </a:rPr>
              <a:t>Boosted ensemble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73F0BC-C8AA-4F89-9D7A-A414C719E87E}"/>
              </a:ext>
            </a:extLst>
          </p:cNvPr>
          <p:cNvSpPr>
            <a:spLocks noGrp="1"/>
          </p:cNvSpPr>
          <p:nvPr/>
        </p:nvSpPr>
        <p:spPr>
          <a:xfrm>
            <a:off x="5695950" y="319087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8F8F8"/>
                </a:solidFill>
              </a:defRPr>
            </a:pPr>
            <a:r>
              <a:rPr sz="900" b="0">
                <a:solidFill>
                  <a:srgbClr val="F8F8F8"/>
                </a:solidFill>
              </a:rPr>
              <a:t>Corrects errors sequentially with regularization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523427BE-37C9-42FC-9264-6ABB03EA8271}"/>
              </a:ext>
            </a:extLst>
          </p:cNvPr>
          <p:cNvSpPr>
            <a:spLocks noGrp="1"/>
          </p:cNvSpPr>
          <p:nvPr/>
        </p:nvSpPr>
        <p:spPr>
          <a:xfrm>
            <a:off x="285750" y="3581400"/>
            <a:ext cx="8572500" cy="0"/>
          </a:xfrm>
          <a:prstGeom prst="line">
            <a:avLst/>
          </a:prstGeom>
          <a:ln w="762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BADCE4-7D94-49B0-9BEF-20C0A42E490E}"/>
              </a:ext>
            </a:extLst>
          </p:cNvPr>
          <p:cNvSpPr>
            <a:spLocks noGrp="1"/>
          </p:cNvSpPr>
          <p:nvPr/>
        </p:nvSpPr>
        <p:spPr>
          <a:xfrm>
            <a:off x="361950" y="370522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8F8F8"/>
                </a:solidFill>
              </a:defRPr>
            </a:pPr>
            <a:r>
              <a:rPr sz="900" b="1">
                <a:solidFill>
                  <a:srgbClr val="F8F8F8"/>
                </a:solidFill>
              </a:rPr>
              <a:t>SWRF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C2D651-8BA2-4636-A0F7-39CE27F08F1A}"/>
              </a:ext>
            </a:extLst>
          </p:cNvPr>
          <p:cNvSpPr>
            <a:spLocks noGrp="1"/>
          </p:cNvSpPr>
          <p:nvPr/>
        </p:nvSpPr>
        <p:spPr>
          <a:xfrm>
            <a:off x="2790825" y="370522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8F8F8"/>
                </a:solidFill>
              </a:defRPr>
            </a:pPr>
            <a:r>
              <a:rPr sz="900" b="0">
                <a:solidFill>
                  <a:srgbClr val="F8F8F8"/>
                </a:solidFill>
              </a:rPr>
              <a:t>Spatial ensemble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85FF3C-2724-43E7-879E-CA10FA4387C6}"/>
              </a:ext>
            </a:extLst>
          </p:cNvPr>
          <p:cNvSpPr>
            <a:spLocks noGrp="1"/>
          </p:cNvSpPr>
          <p:nvPr/>
        </p:nvSpPr>
        <p:spPr>
          <a:xfrm>
            <a:off x="5695950" y="370522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F8F8F8"/>
                </a:solidFill>
              </a:defRPr>
            </a:pPr>
            <a:r>
              <a:rPr sz="900" b="0">
                <a:solidFill>
                  <a:srgbClr val="F8F8F8"/>
                </a:solidFill>
              </a:rPr>
              <a:t>Adds local geographic context to Random Forest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378D5F44-021C-4E5C-87D9-E58AB36EC81E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471BFD-D07F-45D7-9CDA-ED7442B03917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Prospex CRE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39DC4-22C0-4AA5-92C9-965F83320DCD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9307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48D94DC-AE3F-47E1-A8CF-FF30B8DB4A48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790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0">
                <a:solidFill>
                  <a:srgbClr val="171717"/>
                </a:solidFill>
              </a:defRPr>
            </a:pPr>
            <a:r>
              <a:rPr lang="en-US" sz="1875" dirty="0"/>
              <a:t>Model Tournament Results</a:t>
            </a:r>
            <a:endParaRPr sz="1875" b="0" dirty="0">
              <a:solidFill>
                <a:srgbClr val="171717"/>
              </a:solidFill>
            </a:endParaRP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63364CC-73C8-4AB2-BF9E-D1119818265F}"/>
              </a:ext>
            </a:extLst>
          </p:cNvPr>
          <p:cNvSpPr>
            <a:spLocks noGrp="1"/>
          </p:cNvSpPr>
          <p:nvPr/>
        </p:nvSpPr>
        <p:spPr>
          <a:xfrm>
            <a:off x="285750" y="1571625"/>
            <a:ext cx="8572500" cy="0"/>
          </a:xfrm>
          <a:prstGeom prst="line">
            <a:avLst/>
          </a:prstGeom>
          <a:ln w="6668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EF55CD-8A05-4D47-90E3-AE6441001212}"/>
              </a:ext>
            </a:extLst>
          </p:cNvPr>
          <p:cNvSpPr>
            <a:spLocks noGrp="1"/>
          </p:cNvSpPr>
          <p:nvPr/>
        </p:nvSpPr>
        <p:spPr>
          <a:xfrm>
            <a:off x="476250" y="1143000"/>
            <a:ext cx="428625" cy="333374"/>
          </a:xfrm>
          <a:prstGeom prst="rect">
            <a:avLst/>
          </a:prstGeom>
          <a:solidFill>
            <a:srgbClr val="05050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DDA1B0-AC3F-41C0-A32B-80092CA3BC05}"/>
              </a:ext>
            </a:extLst>
          </p:cNvPr>
          <p:cNvSpPr>
            <a:spLocks noGrp="1"/>
          </p:cNvSpPr>
          <p:nvPr/>
        </p:nvSpPr>
        <p:spPr>
          <a:xfrm>
            <a:off x="523875" y="1209674"/>
            <a:ext cx="3143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8F8F8"/>
                </a:solidFill>
              </a:defRPr>
            </a:pPr>
            <a:r>
              <a:rPr sz="825" b="1" dirty="0">
                <a:solidFill>
                  <a:srgbClr val="F8F8F8"/>
                </a:solidFill>
              </a:rPr>
              <a:t>#5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7708F9-3760-4211-9226-8600970E2D6E}"/>
              </a:ext>
            </a:extLst>
          </p:cNvPr>
          <p:cNvSpPr>
            <a:spLocks noGrp="1"/>
          </p:cNvSpPr>
          <p:nvPr/>
        </p:nvSpPr>
        <p:spPr>
          <a:xfrm>
            <a:off x="1190625" y="11239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Traditional GIS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22E8A2-E006-4F74-ABF6-508B3E1D7EE7}"/>
              </a:ext>
            </a:extLst>
          </p:cNvPr>
          <p:cNvSpPr>
            <a:spLocks noGrp="1"/>
          </p:cNvSpPr>
          <p:nvPr/>
        </p:nvSpPr>
        <p:spPr>
          <a:xfrm>
            <a:off x="3714750" y="11430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F5F5F"/>
                </a:solidFill>
              </a:defRPr>
            </a:pPr>
            <a:r>
              <a:rPr sz="900" b="0">
                <a:solidFill>
                  <a:srgbClr val="5F5F5F"/>
                </a:solidFill>
              </a:rPr>
              <a:t>Transparent baseline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9A91A9-95DB-45EF-A786-65019450F626}"/>
              </a:ext>
            </a:extLst>
          </p:cNvPr>
          <p:cNvSpPr>
            <a:spLocks noGrp="1"/>
          </p:cNvSpPr>
          <p:nvPr/>
        </p:nvSpPr>
        <p:spPr>
          <a:xfrm>
            <a:off x="6667500" y="11430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Benchmark comparison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69B9239-B351-429E-9759-D01001B4B71E}"/>
              </a:ext>
            </a:extLst>
          </p:cNvPr>
          <p:cNvSpPr>
            <a:spLocks noGrp="1"/>
          </p:cNvSpPr>
          <p:nvPr/>
        </p:nvSpPr>
        <p:spPr>
          <a:xfrm>
            <a:off x="285750" y="2190750"/>
            <a:ext cx="8572500" cy="0"/>
          </a:xfrm>
          <a:prstGeom prst="line">
            <a:avLst/>
          </a:prstGeom>
          <a:ln w="6668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99E2C9-18A9-4803-A529-61FC918C74FE}"/>
              </a:ext>
            </a:extLst>
          </p:cNvPr>
          <p:cNvSpPr>
            <a:spLocks noGrp="1"/>
          </p:cNvSpPr>
          <p:nvPr/>
        </p:nvSpPr>
        <p:spPr>
          <a:xfrm>
            <a:off x="476250" y="1762125"/>
            <a:ext cx="428625" cy="304800"/>
          </a:xfrm>
          <a:prstGeom prst="rect">
            <a:avLst/>
          </a:prstGeom>
          <a:solidFill>
            <a:srgbClr val="FF9C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223C07-CE94-48CC-9EE7-78E93885CC7C}"/>
              </a:ext>
            </a:extLst>
          </p:cNvPr>
          <p:cNvSpPr>
            <a:spLocks noGrp="1"/>
          </p:cNvSpPr>
          <p:nvPr/>
        </p:nvSpPr>
        <p:spPr>
          <a:xfrm>
            <a:off x="476249" y="1828799"/>
            <a:ext cx="428625" cy="1905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8F8F8"/>
                </a:solidFill>
              </a:defRPr>
            </a:pPr>
            <a:r>
              <a:rPr sz="825" b="1" dirty="0">
                <a:solidFill>
                  <a:srgbClr val="F8F8F8"/>
                </a:solidFill>
              </a:rPr>
              <a:t>#4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AA8A75-5896-423D-BC6A-3605773EA763}"/>
              </a:ext>
            </a:extLst>
          </p:cNvPr>
          <p:cNvSpPr>
            <a:spLocks noGrp="1"/>
          </p:cNvSpPr>
          <p:nvPr/>
        </p:nvSpPr>
        <p:spPr>
          <a:xfrm>
            <a:off x="1190625" y="174307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OLS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B2B538-54AB-4D05-B898-5A2B571764D4}"/>
              </a:ext>
            </a:extLst>
          </p:cNvPr>
          <p:cNvSpPr>
            <a:spLocks noGrp="1"/>
          </p:cNvSpPr>
          <p:nvPr/>
        </p:nvSpPr>
        <p:spPr>
          <a:xfrm>
            <a:off x="3714750" y="176212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F5F5F"/>
                </a:solidFill>
              </a:defRPr>
            </a:pPr>
            <a:r>
              <a:rPr sz="900" b="0">
                <a:solidFill>
                  <a:srgbClr val="5F5F5F"/>
                </a:solidFill>
              </a:rPr>
              <a:t>Linear statistical baseline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18CB5B-7D95-4C33-A032-45121080485E}"/>
              </a:ext>
            </a:extLst>
          </p:cNvPr>
          <p:cNvSpPr>
            <a:spLocks noGrp="1"/>
          </p:cNvSpPr>
          <p:nvPr/>
        </p:nvSpPr>
        <p:spPr>
          <a:xfrm>
            <a:off x="6667500" y="176212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Benchmark comparison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356D8DE-D952-4D81-AB44-74E3FE903ABA}"/>
              </a:ext>
            </a:extLst>
          </p:cNvPr>
          <p:cNvSpPr>
            <a:spLocks noGrp="1"/>
          </p:cNvSpPr>
          <p:nvPr/>
        </p:nvSpPr>
        <p:spPr>
          <a:xfrm>
            <a:off x="285750" y="2809875"/>
            <a:ext cx="8572500" cy="0"/>
          </a:xfrm>
          <a:prstGeom prst="line">
            <a:avLst/>
          </a:prstGeom>
          <a:ln w="6668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57169E-3E8F-4332-993F-1E98EBF64ABA}"/>
              </a:ext>
            </a:extLst>
          </p:cNvPr>
          <p:cNvSpPr>
            <a:spLocks noGrp="1"/>
          </p:cNvSpPr>
          <p:nvPr/>
        </p:nvSpPr>
        <p:spPr>
          <a:xfrm>
            <a:off x="476250" y="2381250"/>
            <a:ext cx="428625" cy="30480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21F57D-3055-4A8A-89F5-3AEB791A4F3F}"/>
              </a:ext>
            </a:extLst>
          </p:cNvPr>
          <p:cNvSpPr>
            <a:spLocks noGrp="1"/>
          </p:cNvSpPr>
          <p:nvPr/>
        </p:nvSpPr>
        <p:spPr>
          <a:xfrm>
            <a:off x="476249" y="2447924"/>
            <a:ext cx="428625" cy="1714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8F8F8"/>
                </a:solidFill>
              </a:defRPr>
            </a:pPr>
            <a:r>
              <a:rPr sz="825" b="1" dirty="0">
                <a:solidFill>
                  <a:srgbClr val="F8F8F8"/>
                </a:solidFill>
              </a:rPr>
              <a:t>#3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3D7A3F-941F-4A32-BD4C-EEA2967C8730}"/>
              </a:ext>
            </a:extLst>
          </p:cNvPr>
          <p:cNvSpPr>
            <a:spLocks noGrp="1"/>
          </p:cNvSpPr>
          <p:nvPr/>
        </p:nvSpPr>
        <p:spPr>
          <a:xfrm>
            <a:off x="1190625" y="23622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Random Forest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6C5FD4A-8DED-468D-BAE9-BB353EE9E986}"/>
              </a:ext>
            </a:extLst>
          </p:cNvPr>
          <p:cNvSpPr>
            <a:spLocks noGrp="1"/>
          </p:cNvSpPr>
          <p:nvPr/>
        </p:nvSpPr>
        <p:spPr>
          <a:xfrm>
            <a:off x="3714750" y="23812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F5F5F"/>
                </a:solidFill>
              </a:defRPr>
            </a:pPr>
            <a:r>
              <a:rPr sz="900" b="0">
                <a:solidFill>
                  <a:srgbClr val="5F5F5F"/>
                </a:solidFill>
              </a:rPr>
              <a:t>Nonlinear ensemble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962BAA-BBEA-432B-AC2B-5BDEA7B2489D}"/>
              </a:ext>
            </a:extLst>
          </p:cNvPr>
          <p:cNvSpPr>
            <a:spLocks noGrp="1"/>
          </p:cNvSpPr>
          <p:nvPr/>
        </p:nvSpPr>
        <p:spPr>
          <a:xfrm>
            <a:off x="6667500" y="23812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Benchmark comparison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0B0D9FF5-2C5C-44D4-B6ED-4D0F470573EB}"/>
              </a:ext>
            </a:extLst>
          </p:cNvPr>
          <p:cNvSpPr>
            <a:spLocks noGrp="1"/>
          </p:cNvSpPr>
          <p:nvPr/>
        </p:nvSpPr>
        <p:spPr>
          <a:xfrm>
            <a:off x="285750" y="3429000"/>
            <a:ext cx="8572500" cy="0"/>
          </a:xfrm>
          <a:prstGeom prst="line">
            <a:avLst/>
          </a:prstGeom>
          <a:ln w="6668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BF7AE6-1BF8-426B-BC93-C3FEC07890EB}"/>
              </a:ext>
            </a:extLst>
          </p:cNvPr>
          <p:cNvSpPr>
            <a:spLocks noGrp="1"/>
          </p:cNvSpPr>
          <p:nvPr/>
        </p:nvSpPr>
        <p:spPr>
          <a:xfrm>
            <a:off x="476250" y="3000375"/>
            <a:ext cx="428625" cy="30480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5D2C0B-90C5-4395-ABC1-021A5AD821F0}"/>
              </a:ext>
            </a:extLst>
          </p:cNvPr>
          <p:cNvSpPr>
            <a:spLocks noGrp="1"/>
          </p:cNvSpPr>
          <p:nvPr/>
        </p:nvSpPr>
        <p:spPr>
          <a:xfrm>
            <a:off x="476249" y="3067049"/>
            <a:ext cx="428625" cy="1905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8F8F8"/>
                </a:solidFill>
              </a:defRPr>
            </a:pPr>
            <a:r>
              <a:rPr sz="825" b="1" dirty="0">
                <a:solidFill>
                  <a:srgbClr val="F8F8F8"/>
                </a:solidFill>
              </a:rPr>
              <a:t>#2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CD0F0C-5945-48AA-B511-62A47B5D3CB7}"/>
              </a:ext>
            </a:extLst>
          </p:cNvPr>
          <p:cNvSpPr>
            <a:spLocks noGrp="1"/>
          </p:cNvSpPr>
          <p:nvPr/>
        </p:nvSpPr>
        <p:spPr>
          <a:xfrm>
            <a:off x="1190625" y="29813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XGBoost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378781-29C7-4315-90E8-1612CF8A98D1}"/>
              </a:ext>
            </a:extLst>
          </p:cNvPr>
          <p:cNvSpPr>
            <a:spLocks noGrp="1"/>
          </p:cNvSpPr>
          <p:nvPr/>
        </p:nvSpPr>
        <p:spPr>
          <a:xfrm>
            <a:off x="3714750" y="3000375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F5F5F"/>
                </a:solidFill>
              </a:defRPr>
            </a:pPr>
            <a:r>
              <a:rPr sz="900" b="0">
                <a:solidFill>
                  <a:srgbClr val="5F5F5F"/>
                </a:solidFill>
              </a:rPr>
              <a:t>Sequential boosting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731F675-FB33-472D-BF12-4776B699E9A2}"/>
              </a:ext>
            </a:extLst>
          </p:cNvPr>
          <p:cNvSpPr>
            <a:spLocks noGrp="1"/>
          </p:cNvSpPr>
          <p:nvPr/>
        </p:nvSpPr>
        <p:spPr>
          <a:xfrm>
            <a:off x="6667500" y="3000375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Benchmark comparison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1FFC968C-5512-4315-AEE4-861742A43E5A}"/>
              </a:ext>
            </a:extLst>
          </p:cNvPr>
          <p:cNvSpPr>
            <a:spLocks noGrp="1"/>
          </p:cNvSpPr>
          <p:nvPr/>
        </p:nvSpPr>
        <p:spPr>
          <a:xfrm>
            <a:off x="285750" y="4048125"/>
            <a:ext cx="8572500" cy="0"/>
          </a:xfrm>
          <a:prstGeom prst="line">
            <a:avLst/>
          </a:prstGeom>
          <a:ln w="6668">
            <a:solidFill>
              <a:srgbClr val="B4B4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34B4CC-1A67-45F2-BD9A-039DFFC2C1D3}"/>
              </a:ext>
            </a:extLst>
          </p:cNvPr>
          <p:cNvSpPr>
            <a:spLocks noGrp="1"/>
          </p:cNvSpPr>
          <p:nvPr/>
        </p:nvSpPr>
        <p:spPr>
          <a:xfrm>
            <a:off x="476250" y="3619500"/>
            <a:ext cx="428625" cy="304800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8CEBCD-F28A-4B34-A710-E9E86E1EAB13}"/>
              </a:ext>
            </a:extLst>
          </p:cNvPr>
          <p:cNvSpPr>
            <a:spLocks noGrp="1"/>
          </p:cNvSpPr>
          <p:nvPr/>
        </p:nvSpPr>
        <p:spPr>
          <a:xfrm>
            <a:off x="476249" y="3686174"/>
            <a:ext cx="428625" cy="1904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050505"/>
                </a:solidFill>
              </a:defRPr>
            </a:pPr>
            <a:r>
              <a:rPr sz="825" b="1" dirty="0">
                <a:solidFill>
                  <a:srgbClr val="050505"/>
                </a:solidFill>
              </a:rPr>
              <a:t>#1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B7BB7B-E95A-4D71-9632-1DA0D143D0A9}"/>
              </a:ext>
            </a:extLst>
          </p:cNvPr>
          <p:cNvSpPr>
            <a:spLocks noGrp="1"/>
          </p:cNvSpPr>
          <p:nvPr/>
        </p:nvSpPr>
        <p:spPr>
          <a:xfrm>
            <a:off x="1190625" y="36004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71717"/>
                </a:solidFill>
              </a:defRPr>
            </a:pPr>
            <a:r>
              <a:rPr sz="1275" b="1">
                <a:solidFill>
                  <a:srgbClr val="171717"/>
                </a:solidFill>
              </a:rPr>
              <a:t>SWRF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04E1AC-2A9D-48EE-A69C-6CFC957AE840}"/>
              </a:ext>
            </a:extLst>
          </p:cNvPr>
          <p:cNvSpPr>
            <a:spLocks noGrp="1"/>
          </p:cNvSpPr>
          <p:nvPr/>
        </p:nvSpPr>
        <p:spPr>
          <a:xfrm>
            <a:off x="3714750" y="361950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5F5F5F"/>
                </a:solidFill>
              </a:defRPr>
            </a:pPr>
            <a:r>
              <a:rPr sz="900" b="0">
                <a:solidFill>
                  <a:srgbClr val="5F5F5F"/>
                </a:solidFill>
              </a:rPr>
              <a:t>Best overall performer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1103A81-61F6-4346-BCA0-D2922731986D}"/>
              </a:ext>
            </a:extLst>
          </p:cNvPr>
          <p:cNvSpPr>
            <a:spLocks noGrp="1"/>
          </p:cNvSpPr>
          <p:nvPr/>
        </p:nvSpPr>
        <p:spPr>
          <a:xfrm>
            <a:off x="6667500" y="361950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1">
                <a:solidFill>
                  <a:srgbClr val="2542FF"/>
                </a:solidFill>
              </a:defRPr>
            </a:pPr>
            <a:r>
              <a:rPr sz="825" b="1">
                <a:solidFill>
                  <a:srgbClr val="2542FF"/>
                </a:solidFill>
              </a:rPr>
              <a:t>Selected as predictive engine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1FAA35A9-A50C-4A18-B4E2-84FB9F5594E4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67A0B2A-A7FA-4884-8D5F-335A9BAADF77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BFD410-3C97-4397-AA18-84DA44BA3CE6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64072" cy="1333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32288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7A25E42-6831-4E64-A343-E563E7E0D2FA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5905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Spatially Weighted Random Forest produces the strongest overall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3BFA61-2669-4D64-8EB3-24B3F335BCDE}"/>
              </a:ext>
            </a:extLst>
          </p:cNvPr>
          <p:cNvSpPr>
            <a:spLocks noGrp="1"/>
          </p:cNvSpPr>
          <p:nvPr/>
        </p:nvSpPr>
        <p:spPr>
          <a:xfrm>
            <a:off x="7524750" y="753618"/>
            <a:ext cx="562356" cy="10287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046F02-BA0A-49F1-8C2E-D489A71BB924}"/>
              </a:ext>
            </a:extLst>
          </p:cNvPr>
          <p:cNvSpPr>
            <a:spLocks noGrp="1"/>
          </p:cNvSpPr>
          <p:nvPr/>
        </p:nvSpPr>
        <p:spPr>
          <a:xfrm>
            <a:off x="7977378" y="438150"/>
            <a:ext cx="102870" cy="425196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5907C40-9351-4590-91D5-FE294AA2B59E}"/>
              </a:ext>
            </a:extLst>
          </p:cNvPr>
          <p:cNvSpPr>
            <a:spLocks noGrp="1"/>
          </p:cNvSpPr>
          <p:nvPr/>
        </p:nvSpPr>
        <p:spPr>
          <a:xfrm>
            <a:off x="7771638" y="534162"/>
            <a:ext cx="315468" cy="315468"/>
          </a:xfrm>
          <a:prstGeom prst="line">
            <a:avLst/>
          </a:prstGeom>
          <a:ln w="109728">
            <a:solidFill>
              <a:srgbClr val="254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9A620B41-BA17-411C-B919-603197A0B3D9}"/>
              </a:ext>
            </a:extLst>
          </p:cNvPr>
          <p:cNvSpPr>
            <a:spLocks noGrp="1"/>
          </p:cNvSpPr>
          <p:nvPr/>
        </p:nvSpPr>
        <p:spPr>
          <a:xfrm>
            <a:off x="285750" y="981075"/>
            <a:ext cx="8572500" cy="0"/>
          </a:xfrm>
          <a:prstGeom prst="line">
            <a:avLst/>
          </a:prstGeom>
          <a:ln w="952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3C33D2-A35A-4B81-9C85-C9061A4EF277}"/>
              </a:ext>
            </a:extLst>
          </p:cNvPr>
          <p:cNvSpPr>
            <a:spLocks noGrp="1"/>
          </p:cNvSpPr>
          <p:nvPr/>
        </p:nvSpPr>
        <p:spPr>
          <a:xfrm>
            <a:off x="4629150" y="3162300"/>
            <a:ext cx="4229100" cy="142875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0F9CC7-D5DE-4541-AB1F-0C48878F5F57}"/>
              </a:ext>
            </a:extLst>
          </p:cNvPr>
          <p:cNvSpPr>
            <a:spLocks noGrp="1"/>
          </p:cNvSpPr>
          <p:nvPr/>
        </p:nvSpPr>
        <p:spPr>
          <a:xfrm>
            <a:off x="4810125" y="3371850"/>
            <a:ext cx="36671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8F8F8"/>
                </a:solidFill>
              </a:defRPr>
            </a:pPr>
            <a:r>
              <a:rPr sz="1200" b="1">
                <a:solidFill>
                  <a:srgbClr val="F8F8F8"/>
                </a:solidFill>
              </a:rPr>
              <a:t>The paper reports a clear performance progression: traditional GIS is weakest, machine learning improves accuracy, and SWRF ranks first overall.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B3037E1-68B8-46CB-A6DD-F8331659BF93}"/>
              </a:ext>
            </a:extLst>
          </p:cNvPr>
          <p:cNvSpPr>
            <a:spLocks noGrp="1"/>
          </p:cNvSpPr>
          <p:nvPr/>
        </p:nvSpPr>
        <p:spPr>
          <a:xfrm>
            <a:off x="285750" y="1943100"/>
            <a:ext cx="4019550" cy="0"/>
          </a:xfrm>
          <a:prstGeom prst="line">
            <a:avLst/>
          </a:prstGeom>
          <a:ln w="762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77B16-A55D-43E3-A2A6-BC5F91B46DA9}"/>
              </a:ext>
            </a:extLst>
          </p:cNvPr>
          <p:cNvSpPr>
            <a:spLocks noGrp="1"/>
          </p:cNvSpPr>
          <p:nvPr/>
        </p:nvSpPr>
        <p:spPr>
          <a:xfrm>
            <a:off x="285750" y="148590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42FF"/>
                </a:solidFill>
              </a:defRPr>
            </a:pPr>
            <a:r>
              <a:rPr sz="900" b="1">
                <a:solidFill>
                  <a:srgbClr val="2542FF"/>
                </a:solidFill>
              </a:rPr>
              <a:t>Performance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F29EF9-D8FC-4979-904F-A8F3CCE03E04}"/>
              </a:ext>
            </a:extLst>
          </p:cNvPr>
          <p:cNvSpPr>
            <a:spLocks noGrp="1"/>
          </p:cNvSpPr>
          <p:nvPr/>
        </p:nvSpPr>
        <p:spPr>
          <a:xfrm>
            <a:off x="1285875" y="148590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1717"/>
                </a:solidFill>
              </a:defRPr>
            </a:pPr>
            <a:r>
              <a:rPr sz="975" b="0">
                <a:solidFill>
                  <a:srgbClr val="171717"/>
                </a:solidFill>
              </a:rPr>
              <a:t>Models were evaluated with RMSE, MAE, R², and a composite rank.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698EB752-FDB4-438E-83BC-A3B3AEBCBB4F}"/>
              </a:ext>
            </a:extLst>
          </p:cNvPr>
          <p:cNvSpPr>
            <a:spLocks noGrp="1"/>
          </p:cNvSpPr>
          <p:nvPr/>
        </p:nvSpPr>
        <p:spPr>
          <a:xfrm>
            <a:off x="285750" y="2657475"/>
            <a:ext cx="4019550" cy="0"/>
          </a:xfrm>
          <a:prstGeom prst="line">
            <a:avLst/>
          </a:prstGeom>
          <a:ln w="762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0FCE02-35C9-48E6-BB35-28C98CDBB291}"/>
              </a:ext>
            </a:extLst>
          </p:cNvPr>
          <p:cNvSpPr>
            <a:spLocks noGrp="1"/>
          </p:cNvSpPr>
          <p:nvPr/>
        </p:nvSpPr>
        <p:spPr>
          <a:xfrm>
            <a:off x="285750" y="220027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42FF"/>
                </a:solidFill>
              </a:defRPr>
            </a:pPr>
            <a:r>
              <a:rPr sz="900" b="1">
                <a:solidFill>
                  <a:srgbClr val="2542FF"/>
                </a:solidFill>
              </a:rPr>
              <a:t>Interpretation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C37A12-9B92-4546-86E6-9D3359FE9ACC}"/>
              </a:ext>
            </a:extLst>
          </p:cNvPr>
          <p:cNvSpPr>
            <a:spLocks noGrp="1"/>
          </p:cNvSpPr>
          <p:nvPr/>
        </p:nvSpPr>
        <p:spPr>
          <a:xfrm>
            <a:off x="1285875" y="2200275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1717"/>
                </a:solidFill>
              </a:defRPr>
            </a:pPr>
            <a:r>
              <a:rPr sz="975" b="0">
                <a:solidFill>
                  <a:srgbClr val="171717"/>
                </a:solidFill>
              </a:rPr>
              <a:t>SWRF benefits from nonlinear learning plus spatial context.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5622F537-C112-4059-95FD-0D18A71C968B}"/>
              </a:ext>
            </a:extLst>
          </p:cNvPr>
          <p:cNvSpPr>
            <a:spLocks noGrp="1"/>
          </p:cNvSpPr>
          <p:nvPr/>
        </p:nvSpPr>
        <p:spPr>
          <a:xfrm>
            <a:off x="285750" y="3371850"/>
            <a:ext cx="4019550" cy="0"/>
          </a:xfrm>
          <a:prstGeom prst="line">
            <a:avLst/>
          </a:prstGeom>
          <a:ln w="762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2E1790-7EB1-43E6-A0FA-ED471CF13F9A}"/>
              </a:ext>
            </a:extLst>
          </p:cNvPr>
          <p:cNvSpPr>
            <a:spLocks noGrp="1"/>
          </p:cNvSpPr>
          <p:nvPr/>
        </p:nvSpPr>
        <p:spPr>
          <a:xfrm>
            <a:off x="285750" y="2914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42FF"/>
                </a:solidFill>
              </a:defRPr>
            </a:pPr>
            <a:r>
              <a:rPr sz="900" b="1">
                <a:solidFill>
                  <a:srgbClr val="2542FF"/>
                </a:solidFill>
              </a:rPr>
              <a:t>Practical validation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9AA287-E5B8-4E60-BD48-3FC0ED6822DF}"/>
              </a:ext>
            </a:extLst>
          </p:cNvPr>
          <p:cNvSpPr>
            <a:spLocks noGrp="1"/>
          </p:cNvSpPr>
          <p:nvPr/>
        </p:nvSpPr>
        <p:spPr>
          <a:xfrm>
            <a:off x="1285875" y="291465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1717"/>
                </a:solidFill>
              </a:defRPr>
            </a:pPr>
            <a:r>
              <a:rPr sz="975" b="0">
                <a:solidFill>
                  <a:srgbClr val="171717"/>
                </a:solidFill>
              </a:rPr>
              <a:t>High scores align with established commercial activity centers.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662DA69-B02A-406C-B084-543557922717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C12998-5DC3-41E4-A467-FD79845BFD4D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8F5C387-F9D0-4F81-B3FB-3D2B3412B29A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11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C9181EC-8BAD-2A58-A120-B657CCE23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148" y="1291819"/>
            <a:ext cx="4296102" cy="124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853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5D10C7A-3FC1-4790-A3AA-E584AF0CDD9F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581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F8F8F8"/>
                </a:solidFill>
              </a:defRPr>
            </a:pPr>
            <a:r>
              <a:rPr sz="1950" b="0">
                <a:solidFill>
                  <a:srgbClr val="F8F8F8"/>
                </a:solidFill>
              </a:rPr>
              <a:t>Geographic validation checks whether the predictions make planning sense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B42A6081-5D83-4782-901A-0D65D6CEC1D1}"/>
              </a:ext>
            </a:extLst>
          </p:cNvPr>
          <p:cNvSpPr>
            <a:spLocks noGrp="1"/>
          </p:cNvSpPr>
          <p:nvPr/>
        </p:nvSpPr>
        <p:spPr>
          <a:xfrm>
            <a:off x="285750" y="1123950"/>
            <a:ext cx="8572500" cy="0"/>
          </a:xfrm>
          <a:prstGeom prst="line">
            <a:avLst/>
          </a:prstGeom>
          <a:ln w="9525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01C6F2-9940-4C30-A423-27618C9F5265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361950" cy="361950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2222C9-AE8C-4328-BCD8-C55BA99610BD}"/>
              </a:ext>
            </a:extLst>
          </p:cNvPr>
          <p:cNvSpPr>
            <a:spLocks noGrp="1"/>
          </p:cNvSpPr>
          <p:nvPr/>
        </p:nvSpPr>
        <p:spPr>
          <a:xfrm>
            <a:off x="86677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A33308-8E79-457A-A1B0-A99F924CB70C}"/>
              </a:ext>
            </a:extLst>
          </p:cNvPr>
          <p:cNvSpPr>
            <a:spLocks noGrp="1"/>
          </p:cNvSpPr>
          <p:nvPr/>
        </p:nvSpPr>
        <p:spPr>
          <a:xfrm>
            <a:off x="34290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8F8F8"/>
                </a:solidFill>
              </a:defRPr>
            </a:pPr>
            <a:r>
              <a:rPr sz="1200" b="1">
                <a:solidFill>
                  <a:srgbClr val="F8F8F8"/>
                </a:solidFill>
              </a:rPr>
              <a:t>Known centers score high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46960B-EE1A-4750-9A3C-CE594B92AE85}"/>
              </a:ext>
            </a:extLst>
          </p:cNvPr>
          <p:cNvSpPr>
            <a:spLocks noGrp="1"/>
          </p:cNvSpPr>
          <p:nvPr/>
        </p:nvSpPr>
        <p:spPr>
          <a:xfrm>
            <a:off x="5715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D8D8D8"/>
                </a:solidFill>
              </a:defRPr>
            </a:pPr>
            <a:r>
              <a:rPr sz="825" b="0">
                <a:solidFill>
                  <a:srgbClr val="D8D8D8"/>
                </a:solidFill>
              </a:rPr>
              <a:t>Brickell, Downtown Miami, Las Olas, Boca Raton, and West Palm Beach appear as strong suitability areas.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043CB2-092F-4CD9-A0C1-C39D303D8F0C}"/>
              </a:ext>
            </a:extLst>
          </p:cNvPr>
          <p:cNvSpPr>
            <a:spLocks noGrp="1"/>
          </p:cNvSpPr>
          <p:nvPr/>
        </p:nvSpPr>
        <p:spPr>
          <a:xfrm>
            <a:off x="3524250" y="1600200"/>
            <a:ext cx="361950" cy="36195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1CBAAD-70EF-496A-A2F5-E85D96175133}"/>
              </a:ext>
            </a:extLst>
          </p:cNvPr>
          <p:cNvSpPr>
            <a:spLocks noGrp="1"/>
          </p:cNvSpPr>
          <p:nvPr/>
        </p:nvSpPr>
        <p:spPr>
          <a:xfrm>
            <a:off x="359092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8F8F8"/>
                </a:solidFill>
              </a:defRPr>
            </a:pPr>
            <a:r>
              <a:rPr sz="750" b="1">
                <a:solidFill>
                  <a:srgbClr val="F8F8F8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1B917D-8D2E-4759-92B6-F8059585ECE9}"/>
              </a:ext>
            </a:extLst>
          </p:cNvPr>
          <p:cNvSpPr>
            <a:spLocks noGrp="1"/>
          </p:cNvSpPr>
          <p:nvPr/>
        </p:nvSpPr>
        <p:spPr>
          <a:xfrm>
            <a:off x="306705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8F8F8"/>
                </a:solidFill>
              </a:defRPr>
            </a:pPr>
            <a:r>
              <a:rPr sz="1200" b="1">
                <a:solidFill>
                  <a:srgbClr val="F8F8F8"/>
                </a:solidFill>
              </a:rPr>
              <a:t>Weak candidates are filtered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D1D7D0-EA3D-4FDD-BA94-4F3DFE4B43ED}"/>
              </a:ext>
            </a:extLst>
          </p:cNvPr>
          <p:cNvSpPr>
            <a:spLocks noGrp="1"/>
          </p:cNvSpPr>
          <p:nvPr/>
        </p:nvSpPr>
        <p:spPr>
          <a:xfrm>
            <a:off x="278130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D8D8D8"/>
                </a:solidFill>
              </a:defRPr>
            </a:pPr>
            <a:r>
              <a:rPr sz="825" b="0">
                <a:solidFill>
                  <a:srgbClr val="D8D8D8"/>
                </a:solidFill>
              </a:rPr>
              <a:t>Sparse wetlands and conservation lands are removed or receive lower suitability scores.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FB3D4-FAA5-4E81-B720-5F3D791B1985}"/>
              </a:ext>
            </a:extLst>
          </p:cNvPr>
          <p:cNvSpPr>
            <a:spLocks noGrp="1"/>
          </p:cNvSpPr>
          <p:nvPr/>
        </p:nvSpPr>
        <p:spPr>
          <a:xfrm>
            <a:off x="6248400" y="1600200"/>
            <a:ext cx="361950" cy="361950"/>
          </a:xfrm>
          <a:prstGeom prst="rect">
            <a:avLst/>
          </a:prstGeom>
          <a:solidFill>
            <a:srgbClr val="FF9C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385A9D-E1D6-4AE3-91FE-A0D16B1E2C89}"/>
              </a:ext>
            </a:extLst>
          </p:cNvPr>
          <p:cNvSpPr>
            <a:spLocks noGrp="1"/>
          </p:cNvSpPr>
          <p:nvPr/>
        </p:nvSpPr>
        <p:spPr>
          <a:xfrm>
            <a:off x="631507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8F8F8"/>
                </a:solidFill>
              </a:defRPr>
            </a:pPr>
            <a:r>
              <a:rPr sz="750" b="1">
                <a:solidFill>
                  <a:srgbClr val="F8F8F8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B1D94B-309A-45EA-8CD5-0FF94DACEA04}"/>
              </a:ext>
            </a:extLst>
          </p:cNvPr>
          <p:cNvSpPr>
            <a:spLocks noGrp="1"/>
          </p:cNvSpPr>
          <p:nvPr/>
        </p:nvSpPr>
        <p:spPr>
          <a:xfrm>
            <a:off x="579120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8F8F8"/>
                </a:solidFill>
              </a:defRPr>
            </a:pPr>
            <a:r>
              <a:rPr sz="1200" b="1">
                <a:solidFill>
                  <a:srgbClr val="F8F8F8"/>
                </a:solidFill>
              </a:rPr>
              <a:t>The map becomes usable evidence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551B28-77B0-48EC-B51D-FCB3E0037EA6}"/>
              </a:ext>
            </a:extLst>
          </p:cNvPr>
          <p:cNvSpPr>
            <a:spLocks noGrp="1"/>
          </p:cNvSpPr>
          <p:nvPr/>
        </p:nvSpPr>
        <p:spPr>
          <a:xfrm>
            <a:off x="550545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D8D8D8"/>
                </a:solidFill>
              </a:defRPr>
            </a:pPr>
            <a:r>
              <a:rPr sz="825" b="0">
                <a:solidFill>
                  <a:srgbClr val="D8D8D8"/>
                </a:solidFill>
              </a:rPr>
              <a:t>The final surface supports spatial comparison instead of a single black-box score.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3E2EAF08-30A8-413A-8C20-A5859DEE949F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F2F32D-646A-4F67-AF78-78B7FC4DBC70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Prospex CRE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B85A2B-5382-4239-A33B-89791A252BB7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42321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1AB27D4-3BDC-4571-8FC1-E218DECB5A89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5905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171717"/>
                </a:solidFill>
              </a:defRPr>
            </a:pPr>
            <a:r>
              <a:rPr sz="2100" b="0">
                <a:solidFill>
                  <a:srgbClr val="171717"/>
                </a:solidFill>
              </a:rPr>
              <a:t>SHAP turns the selected model into an explainable decision tool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417B84-3BB1-4C93-ADDD-C6CFE41BF38B}"/>
              </a:ext>
            </a:extLst>
          </p:cNvPr>
          <p:cNvSpPr>
            <a:spLocks noGrp="1"/>
          </p:cNvSpPr>
          <p:nvPr/>
        </p:nvSpPr>
        <p:spPr>
          <a:xfrm>
            <a:off x="7524750" y="753618"/>
            <a:ext cx="562356" cy="10287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22501D-E6E5-4A65-8D5F-A26B341D5B8F}"/>
              </a:ext>
            </a:extLst>
          </p:cNvPr>
          <p:cNvSpPr>
            <a:spLocks noGrp="1"/>
          </p:cNvSpPr>
          <p:nvPr/>
        </p:nvSpPr>
        <p:spPr>
          <a:xfrm>
            <a:off x="7977378" y="438150"/>
            <a:ext cx="102870" cy="425196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1D8F7E6-B7E3-4B10-B3C5-153BCDA534B5}"/>
              </a:ext>
            </a:extLst>
          </p:cNvPr>
          <p:cNvSpPr>
            <a:spLocks noGrp="1"/>
          </p:cNvSpPr>
          <p:nvPr/>
        </p:nvSpPr>
        <p:spPr>
          <a:xfrm>
            <a:off x="7771638" y="534162"/>
            <a:ext cx="315468" cy="315468"/>
          </a:xfrm>
          <a:prstGeom prst="line">
            <a:avLst/>
          </a:prstGeom>
          <a:ln w="109728">
            <a:solidFill>
              <a:srgbClr val="254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6AC65064-60C1-427B-84EF-A107BF40DA0A}"/>
              </a:ext>
            </a:extLst>
          </p:cNvPr>
          <p:cNvSpPr>
            <a:spLocks noGrp="1"/>
          </p:cNvSpPr>
          <p:nvPr/>
        </p:nvSpPr>
        <p:spPr>
          <a:xfrm>
            <a:off x="285750" y="981075"/>
            <a:ext cx="8572500" cy="0"/>
          </a:xfrm>
          <a:prstGeom prst="line">
            <a:avLst/>
          </a:prstGeom>
          <a:ln w="9525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3E347-61A9-4D23-8FDB-B2AD8CBF39A4}"/>
              </a:ext>
            </a:extLst>
          </p:cNvPr>
          <p:cNvSpPr>
            <a:spLocks noGrp="1"/>
          </p:cNvSpPr>
          <p:nvPr/>
        </p:nvSpPr>
        <p:spPr>
          <a:xfrm>
            <a:off x="4629150" y="3162300"/>
            <a:ext cx="4229100" cy="142875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EDA6F2-8BBD-4CA8-81DC-AB69ED43B7DA}"/>
              </a:ext>
            </a:extLst>
          </p:cNvPr>
          <p:cNvSpPr>
            <a:spLocks noGrp="1"/>
          </p:cNvSpPr>
          <p:nvPr/>
        </p:nvSpPr>
        <p:spPr>
          <a:xfrm>
            <a:off x="4810125" y="3371850"/>
            <a:ext cx="36671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8F8F8"/>
                </a:solidFill>
              </a:defRPr>
            </a:pPr>
            <a:r>
              <a:rPr sz="1200" b="1">
                <a:solidFill>
                  <a:srgbClr val="F8F8F8"/>
                </a:solidFill>
              </a:rPr>
              <a:t>Each census tract receives the three strongest positive and three strongest negative drivers behind its predicted suitability score.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0D2F62D2-8B48-446E-99F2-F3DE87845231}"/>
              </a:ext>
            </a:extLst>
          </p:cNvPr>
          <p:cNvSpPr>
            <a:spLocks noGrp="1"/>
          </p:cNvSpPr>
          <p:nvPr/>
        </p:nvSpPr>
        <p:spPr>
          <a:xfrm>
            <a:off x="285750" y="1943100"/>
            <a:ext cx="4019550" cy="0"/>
          </a:xfrm>
          <a:prstGeom prst="line">
            <a:avLst/>
          </a:prstGeom>
          <a:ln w="762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808E9B-959F-420A-97C4-40B6D107FA1D}"/>
              </a:ext>
            </a:extLst>
          </p:cNvPr>
          <p:cNvSpPr>
            <a:spLocks noGrp="1"/>
          </p:cNvSpPr>
          <p:nvPr/>
        </p:nvSpPr>
        <p:spPr>
          <a:xfrm>
            <a:off x="285750" y="148590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42FF"/>
                </a:solidFill>
              </a:defRPr>
            </a:pPr>
            <a:r>
              <a:rPr sz="900" b="1">
                <a:solidFill>
                  <a:srgbClr val="2542FF"/>
                </a:solidFill>
              </a:rPr>
              <a:t>Positive drivers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B5CEAC-C045-478C-8BCE-DAC19697CB0A}"/>
              </a:ext>
            </a:extLst>
          </p:cNvPr>
          <p:cNvSpPr>
            <a:spLocks noGrp="1"/>
          </p:cNvSpPr>
          <p:nvPr/>
        </p:nvSpPr>
        <p:spPr>
          <a:xfrm>
            <a:off x="1285875" y="148590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1717"/>
                </a:solidFill>
              </a:defRPr>
            </a:pPr>
            <a:r>
              <a:rPr sz="975" b="0">
                <a:solidFill>
                  <a:srgbClr val="171717"/>
                </a:solidFill>
              </a:rPr>
              <a:t>Commercial POI Score, Commercial Land Use Index, Employment Density, and Road Accessibility often raise scores.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A6E49F41-F1BC-4131-8922-B9EE481CF6C1}"/>
              </a:ext>
            </a:extLst>
          </p:cNvPr>
          <p:cNvSpPr>
            <a:spLocks noGrp="1"/>
          </p:cNvSpPr>
          <p:nvPr/>
        </p:nvSpPr>
        <p:spPr>
          <a:xfrm>
            <a:off x="285750" y="2657475"/>
            <a:ext cx="4019550" cy="0"/>
          </a:xfrm>
          <a:prstGeom prst="line">
            <a:avLst/>
          </a:prstGeom>
          <a:ln w="762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45BCC1-3782-4ED6-A219-7605D9D90F9A}"/>
              </a:ext>
            </a:extLst>
          </p:cNvPr>
          <p:cNvSpPr>
            <a:spLocks noGrp="1"/>
          </p:cNvSpPr>
          <p:nvPr/>
        </p:nvSpPr>
        <p:spPr>
          <a:xfrm>
            <a:off x="285750" y="220027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42FF"/>
                </a:solidFill>
              </a:defRPr>
            </a:pPr>
            <a:r>
              <a:rPr sz="900" b="1">
                <a:solidFill>
                  <a:srgbClr val="2542FF"/>
                </a:solidFill>
              </a:rPr>
              <a:t>Negative drivers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F64530-E7AC-40C5-9EF0-AABFE480C864}"/>
              </a:ext>
            </a:extLst>
          </p:cNvPr>
          <p:cNvSpPr>
            <a:spLocks noGrp="1"/>
          </p:cNvSpPr>
          <p:nvPr/>
        </p:nvSpPr>
        <p:spPr>
          <a:xfrm>
            <a:off x="1285875" y="2200275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1717"/>
                </a:solidFill>
              </a:defRPr>
            </a:pPr>
            <a:r>
              <a:rPr sz="975" b="0">
                <a:solidFill>
                  <a:srgbClr val="171717"/>
                </a:solidFill>
              </a:rPr>
              <a:t>Low access, weak commercial intensity, or limited market demand can lower suitability.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204CE36-F4DE-4FB0-A3BD-CCE0292CF6AE}"/>
              </a:ext>
            </a:extLst>
          </p:cNvPr>
          <p:cNvSpPr>
            <a:spLocks noGrp="1"/>
          </p:cNvSpPr>
          <p:nvPr/>
        </p:nvSpPr>
        <p:spPr>
          <a:xfrm>
            <a:off x="285750" y="3371850"/>
            <a:ext cx="4019550" cy="0"/>
          </a:xfrm>
          <a:prstGeom prst="line">
            <a:avLst/>
          </a:prstGeom>
          <a:ln w="7620">
            <a:solidFill>
              <a:srgbClr val="B5B5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EDF1F8-BAFB-4EF2-8D6D-A7E5720B38F1}"/>
              </a:ext>
            </a:extLst>
          </p:cNvPr>
          <p:cNvSpPr>
            <a:spLocks noGrp="1"/>
          </p:cNvSpPr>
          <p:nvPr/>
        </p:nvSpPr>
        <p:spPr>
          <a:xfrm>
            <a:off x="285750" y="2914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2542FF"/>
                </a:solidFill>
              </a:defRPr>
            </a:pPr>
            <a:r>
              <a:rPr sz="900" b="1">
                <a:solidFill>
                  <a:srgbClr val="2542FF"/>
                </a:solidFill>
              </a:rPr>
              <a:t>Decision value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52156B-5945-4B49-8F2C-232E032AEA5C}"/>
              </a:ext>
            </a:extLst>
          </p:cNvPr>
          <p:cNvSpPr>
            <a:spLocks noGrp="1"/>
          </p:cNvSpPr>
          <p:nvPr/>
        </p:nvSpPr>
        <p:spPr>
          <a:xfrm>
            <a:off x="1285875" y="291465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1717"/>
                </a:solidFill>
              </a:defRPr>
            </a:pPr>
            <a:r>
              <a:rPr sz="975" b="0">
                <a:solidFill>
                  <a:srgbClr val="171717"/>
                </a:solidFill>
              </a:rPr>
              <a:t>Users can see why a tract scored well before advancing it for deeper due diligence.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6DE4BFB-133F-4D75-9A21-16A0BBB7FBEC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3F1129-66A2-4CAC-B63C-9AE4BF8D1FBC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A4E32C-6811-41DC-9D9D-70586C45B83B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8008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2C1848BD-ED94-4ED0-980F-041E4EC26D2F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5905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F8F8F8"/>
                </a:solidFill>
              </a:defRPr>
            </a:pPr>
            <a:r>
              <a:rPr sz="2100" b="0">
                <a:solidFill>
                  <a:srgbClr val="F8F8F8"/>
                </a:solidFill>
              </a:rPr>
              <a:t>The Prospex CRE web app makes the model operational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D13FAD-58C4-4764-8544-EBC2EF0D5D6E}"/>
              </a:ext>
            </a:extLst>
          </p:cNvPr>
          <p:cNvSpPr>
            <a:spLocks noGrp="1"/>
          </p:cNvSpPr>
          <p:nvPr/>
        </p:nvSpPr>
        <p:spPr>
          <a:xfrm>
            <a:off x="7524750" y="753618"/>
            <a:ext cx="562356" cy="102870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90BB22-3D96-4A00-BAC2-A6F9C2C29A3E}"/>
              </a:ext>
            </a:extLst>
          </p:cNvPr>
          <p:cNvSpPr>
            <a:spLocks noGrp="1"/>
          </p:cNvSpPr>
          <p:nvPr/>
        </p:nvSpPr>
        <p:spPr>
          <a:xfrm>
            <a:off x="7977378" y="438150"/>
            <a:ext cx="102870" cy="425196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777338-CE30-468C-BB76-755FE207D542}"/>
              </a:ext>
            </a:extLst>
          </p:cNvPr>
          <p:cNvSpPr>
            <a:spLocks noGrp="1"/>
          </p:cNvSpPr>
          <p:nvPr/>
        </p:nvSpPr>
        <p:spPr>
          <a:xfrm>
            <a:off x="7771638" y="534162"/>
            <a:ext cx="315468" cy="315468"/>
          </a:xfrm>
          <a:prstGeom prst="line">
            <a:avLst/>
          </a:prstGeom>
          <a:ln w="109728">
            <a:solidFill>
              <a:srgbClr val="FFE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445D5C2-5B2F-4422-BF28-563163559589}"/>
              </a:ext>
            </a:extLst>
          </p:cNvPr>
          <p:cNvSpPr>
            <a:spLocks noGrp="1"/>
          </p:cNvSpPr>
          <p:nvPr/>
        </p:nvSpPr>
        <p:spPr>
          <a:xfrm>
            <a:off x="285750" y="981075"/>
            <a:ext cx="8572500" cy="0"/>
          </a:xfrm>
          <a:prstGeom prst="line">
            <a:avLst/>
          </a:prstGeom>
          <a:ln w="9525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48F38B-8132-4D6C-B378-D9CAA70AEC42}"/>
              </a:ext>
            </a:extLst>
          </p:cNvPr>
          <p:cNvSpPr>
            <a:spLocks noGrp="1"/>
          </p:cNvSpPr>
          <p:nvPr/>
        </p:nvSpPr>
        <p:spPr>
          <a:xfrm>
            <a:off x="4629150" y="3162300"/>
            <a:ext cx="4229100" cy="142875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7366AC-DEF1-409A-875C-C604D3CEA756}"/>
              </a:ext>
            </a:extLst>
          </p:cNvPr>
          <p:cNvSpPr>
            <a:spLocks noGrp="1"/>
          </p:cNvSpPr>
          <p:nvPr/>
        </p:nvSpPr>
        <p:spPr>
          <a:xfrm>
            <a:off x="4810125" y="3371850"/>
            <a:ext cx="36671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8F8F8"/>
                </a:solidFill>
              </a:defRPr>
            </a:pPr>
            <a:r>
              <a:rPr sz="1200" b="1">
                <a:solidFill>
                  <a:srgbClr val="F8F8F8"/>
                </a:solidFill>
              </a:rPr>
              <a:t>React, TypeScript, Vite, and Leaflet turn the GeoJSON outputs into an interactive commercial development intelligence platform.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EC77003-61A2-4FE3-BB73-E8751E6979D3}"/>
              </a:ext>
            </a:extLst>
          </p:cNvPr>
          <p:cNvSpPr>
            <a:spLocks noGrp="1"/>
          </p:cNvSpPr>
          <p:nvPr/>
        </p:nvSpPr>
        <p:spPr>
          <a:xfrm>
            <a:off x="285750" y="1943100"/>
            <a:ext cx="4019550" cy="0"/>
          </a:xfrm>
          <a:prstGeom prst="line">
            <a:avLst/>
          </a:prstGeom>
          <a:ln w="762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2E2AAC-E016-4CB4-8ACD-699922B86681}"/>
              </a:ext>
            </a:extLst>
          </p:cNvPr>
          <p:cNvSpPr>
            <a:spLocks noGrp="1"/>
          </p:cNvSpPr>
          <p:nvPr/>
        </p:nvSpPr>
        <p:spPr>
          <a:xfrm>
            <a:off x="285750" y="148590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E100"/>
                </a:solidFill>
              </a:defRPr>
            </a:pPr>
            <a:r>
              <a:rPr sz="900" b="1">
                <a:solidFill>
                  <a:srgbClr val="FFE100"/>
                </a:solidFill>
              </a:rPr>
              <a:t>Map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3015BC-F8AF-4A9F-BB3A-05139776E849}"/>
              </a:ext>
            </a:extLst>
          </p:cNvPr>
          <p:cNvSpPr>
            <a:spLocks noGrp="1"/>
          </p:cNvSpPr>
          <p:nvPr/>
        </p:nvSpPr>
        <p:spPr>
          <a:xfrm>
            <a:off x="1285875" y="148590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8F8F8"/>
                </a:solidFill>
              </a:defRPr>
            </a:pPr>
            <a:r>
              <a:rPr sz="975" b="0">
                <a:solidFill>
                  <a:srgbClr val="F8F8F8"/>
                </a:solidFill>
              </a:rPr>
              <a:t>Users hover or select census tracts to inspect percentile-normalized suitability scores.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2BA8506-83A0-434D-9B3A-1B9693E8D28D}"/>
              </a:ext>
            </a:extLst>
          </p:cNvPr>
          <p:cNvSpPr>
            <a:spLocks noGrp="1"/>
          </p:cNvSpPr>
          <p:nvPr/>
        </p:nvSpPr>
        <p:spPr>
          <a:xfrm>
            <a:off x="285750" y="2657475"/>
            <a:ext cx="4019550" cy="0"/>
          </a:xfrm>
          <a:prstGeom prst="line">
            <a:avLst/>
          </a:prstGeom>
          <a:ln w="762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C190AD-C594-49F9-AAC7-7E7BC5AE6B28}"/>
              </a:ext>
            </a:extLst>
          </p:cNvPr>
          <p:cNvSpPr>
            <a:spLocks noGrp="1"/>
          </p:cNvSpPr>
          <p:nvPr/>
        </p:nvSpPr>
        <p:spPr>
          <a:xfrm>
            <a:off x="285750" y="220027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E100"/>
                </a:solidFill>
              </a:defRPr>
            </a:pPr>
            <a:r>
              <a:rPr sz="900" b="1">
                <a:solidFill>
                  <a:srgbClr val="FFE100"/>
                </a:solidFill>
              </a:rPr>
              <a:t>Comparison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96B37D-1AD4-408E-B310-702A04790C93}"/>
              </a:ext>
            </a:extLst>
          </p:cNvPr>
          <p:cNvSpPr>
            <a:spLocks noGrp="1"/>
          </p:cNvSpPr>
          <p:nvPr/>
        </p:nvSpPr>
        <p:spPr>
          <a:xfrm>
            <a:off x="1285875" y="2200275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8F8F8"/>
                </a:solidFill>
              </a:defRPr>
            </a:pPr>
            <a:r>
              <a:rPr sz="975" b="0">
                <a:solidFill>
                  <a:srgbClr val="F8F8F8"/>
                </a:solidFill>
              </a:rPr>
              <a:t>The app shows the ML score, GIS baseline, recent construction signal, and county-ranked top tracts.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C76E3F5-272A-4A37-97BF-353F6419CFD2}"/>
              </a:ext>
            </a:extLst>
          </p:cNvPr>
          <p:cNvSpPr>
            <a:spLocks noGrp="1"/>
          </p:cNvSpPr>
          <p:nvPr/>
        </p:nvSpPr>
        <p:spPr>
          <a:xfrm>
            <a:off x="285750" y="3371850"/>
            <a:ext cx="4019550" cy="0"/>
          </a:xfrm>
          <a:prstGeom prst="line">
            <a:avLst/>
          </a:prstGeom>
          <a:ln w="762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46AB15-AB60-4BDD-98B6-D1677AB64F5A}"/>
              </a:ext>
            </a:extLst>
          </p:cNvPr>
          <p:cNvSpPr>
            <a:spLocks noGrp="1"/>
          </p:cNvSpPr>
          <p:nvPr/>
        </p:nvSpPr>
        <p:spPr>
          <a:xfrm>
            <a:off x="285750" y="291465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E100"/>
                </a:solidFill>
              </a:defRPr>
            </a:pPr>
            <a:r>
              <a:rPr sz="900" b="1">
                <a:solidFill>
                  <a:srgbClr val="FFE100"/>
                </a:solidFill>
              </a:rPr>
              <a:t>Explanation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48767A-E6F2-4F55-A011-5D8C3881E185}"/>
              </a:ext>
            </a:extLst>
          </p:cNvPr>
          <p:cNvSpPr>
            <a:spLocks noGrp="1"/>
          </p:cNvSpPr>
          <p:nvPr/>
        </p:nvSpPr>
        <p:spPr>
          <a:xfrm>
            <a:off x="1285875" y="291465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8F8F8"/>
                </a:solidFill>
              </a:defRPr>
            </a:pPr>
            <a:r>
              <a:rPr sz="975" b="0">
                <a:solidFill>
                  <a:srgbClr val="F8F8F8"/>
                </a:solidFill>
              </a:rPr>
              <a:t>SHAP-style drivers are surfaced in the tract information card.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6E128296-4367-41F0-AFBE-C62F86EE0FFE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EE1DE2-6622-478D-A8F9-5D86F89690DC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Prospex CRE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45319A-0097-4096-B505-A4451679EFE6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0691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89CAA98-73B7-4B00-A909-73674DCA9436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581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</a:rPr>
              <a:t>The findings reposition GIS as the spatial foundation for machine learning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F9A8A3A-2279-49FB-AC0E-E44615460E75}"/>
              </a:ext>
            </a:extLst>
          </p:cNvPr>
          <p:cNvSpPr>
            <a:spLocks noGrp="1"/>
          </p:cNvSpPr>
          <p:nvPr/>
        </p:nvSpPr>
        <p:spPr>
          <a:xfrm>
            <a:off x="285750" y="1123950"/>
            <a:ext cx="8572500" cy="0"/>
          </a:xfrm>
          <a:prstGeom prst="line">
            <a:avLst/>
          </a:prstGeom>
          <a:ln w="952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FF7027-AA0B-43C2-9BEC-618462A31512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361950" cy="361950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007A62-EEF6-4ACE-8BA3-916693052EB9}"/>
              </a:ext>
            </a:extLst>
          </p:cNvPr>
          <p:cNvSpPr>
            <a:spLocks noGrp="1"/>
          </p:cNvSpPr>
          <p:nvPr/>
        </p:nvSpPr>
        <p:spPr>
          <a:xfrm>
            <a:off x="86677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F4BE6-BE29-4106-A145-ADFBA0077406}"/>
              </a:ext>
            </a:extLst>
          </p:cNvPr>
          <p:cNvSpPr>
            <a:spLocks noGrp="1"/>
          </p:cNvSpPr>
          <p:nvPr/>
        </p:nvSpPr>
        <p:spPr>
          <a:xfrm>
            <a:off x="34290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GIS remains essential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0E925-47B3-4A35-B63C-04A38CD3FCB3}"/>
              </a:ext>
            </a:extLst>
          </p:cNvPr>
          <p:cNvSpPr>
            <a:spLocks noGrp="1"/>
          </p:cNvSpPr>
          <p:nvPr/>
        </p:nvSpPr>
        <p:spPr>
          <a:xfrm>
            <a:off x="5715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It organizes, joins, preprocesses, and visualizes geographic information.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8F92FD-4059-4018-BCE9-8A39244CF1C3}"/>
              </a:ext>
            </a:extLst>
          </p:cNvPr>
          <p:cNvSpPr>
            <a:spLocks noGrp="1"/>
          </p:cNvSpPr>
          <p:nvPr/>
        </p:nvSpPr>
        <p:spPr>
          <a:xfrm>
            <a:off x="3524250" y="1600200"/>
            <a:ext cx="361950" cy="36195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09E70-AD72-46B4-B629-756A90BED494}"/>
              </a:ext>
            </a:extLst>
          </p:cNvPr>
          <p:cNvSpPr>
            <a:spLocks noGrp="1"/>
          </p:cNvSpPr>
          <p:nvPr/>
        </p:nvSpPr>
        <p:spPr>
          <a:xfrm>
            <a:off x="359092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8F8F8"/>
                </a:solidFill>
              </a:defRPr>
            </a:pPr>
            <a:r>
              <a:rPr sz="750" b="1">
                <a:solidFill>
                  <a:srgbClr val="F8F8F8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36D36-50F1-46A6-8836-6C7974FE34BB}"/>
              </a:ext>
            </a:extLst>
          </p:cNvPr>
          <p:cNvSpPr>
            <a:spLocks noGrp="1"/>
          </p:cNvSpPr>
          <p:nvPr/>
        </p:nvSpPr>
        <p:spPr>
          <a:xfrm>
            <a:off x="306705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ML improves the modeling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07F5E3-2032-48C5-9949-8512A2CD4809}"/>
              </a:ext>
            </a:extLst>
          </p:cNvPr>
          <p:cNvSpPr>
            <a:spLocks noGrp="1"/>
          </p:cNvSpPr>
          <p:nvPr/>
        </p:nvSpPr>
        <p:spPr>
          <a:xfrm>
            <a:off x="278130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It learns nonlinear relationships instead of relying on subjective weights.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3D98A5-BAA4-451A-A532-23097AE0F8DD}"/>
              </a:ext>
            </a:extLst>
          </p:cNvPr>
          <p:cNvSpPr>
            <a:spLocks noGrp="1"/>
          </p:cNvSpPr>
          <p:nvPr/>
        </p:nvSpPr>
        <p:spPr>
          <a:xfrm>
            <a:off x="6248400" y="1600200"/>
            <a:ext cx="361950" cy="361950"/>
          </a:xfrm>
          <a:prstGeom prst="rect">
            <a:avLst/>
          </a:prstGeom>
          <a:solidFill>
            <a:srgbClr val="FF9C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AF86C6-B637-4C9A-914D-0272A8708A18}"/>
              </a:ext>
            </a:extLst>
          </p:cNvPr>
          <p:cNvSpPr>
            <a:spLocks noGrp="1"/>
          </p:cNvSpPr>
          <p:nvPr/>
        </p:nvSpPr>
        <p:spPr>
          <a:xfrm>
            <a:off x="631507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8F8F8"/>
                </a:solidFill>
              </a:defRPr>
            </a:pPr>
            <a:r>
              <a:rPr sz="750" b="1">
                <a:solidFill>
                  <a:srgbClr val="F8F8F8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074F6D-CA85-4936-BBDE-799027F237FF}"/>
              </a:ext>
            </a:extLst>
          </p:cNvPr>
          <p:cNvSpPr>
            <a:spLocks noGrp="1"/>
          </p:cNvSpPr>
          <p:nvPr/>
        </p:nvSpPr>
        <p:spPr>
          <a:xfrm>
            <a:off x="579120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XAI supports adoption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FCF85D-D826-4E92-AC7D-773DDC8CB404}"/>
              </a:ext>
            </a:extLst>
          </p:cNvPr>
          <p:cNvSpPr>
            <a:spLocks noGrp="1"/>
          </p:cNvSpPr>
          <p:nvPr/>
        </p:nvSpPr>
        <p:spPr>
          <a:xfrm>
            <a:off x="550545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SHAP helps planners and developers understand why locations are recommended.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A06DB27-0FEE-4DF8-A6FB-97B6E8402614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B3417-2748-4269-9E7C-3CF4D408BE04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C6329B-0E2E-456E-97ED-BABB123D4580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5359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EAB412-5CEF-4DBC-9C80-BF2B41853B65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171717"/>
                </a:solidFill>
              </a:defRPr>
            </a:pPr>
            <a:r>
              <a:rPr sz="1875" b="0">
                <a:solidFill>
                  <a:srgbClr val="171717"/>
                </a:solidFill>
              </a:rPr>
              <a:t>The main constraints define where the framework should evolve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425D0EC1-6D97-4638-BF01-85059F0FDA2F}"/>
              </a:ext>
            </a:extLst>
          </p:cNvPr>
          <p:cNvSpPr>
            <a:spLocks noGrp="1"/>
          </p:cNvSpPr>
          <p:nvPr/>
        </p:nvSpPr>
        <p:spPr>
          <a:xfrm>
            <a:off x="285750" y="1066800"/>
            <a:ext cx="8572500" cy="0"/>
          </a:xfrm>
          <a:prstGeom prst="line">
            <a:avLst/>
          </a:prstGeom>
          <a:ln w="11430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63D466-CA63-4D04-BE76-34B6487AA6DA}"/>
              </a:ext>
            </a:extLst>
          </p:cNvPr>
          <p:cNvSpPr>
            <a:spLocks noGrp="1"/>
          </p:cNvSpPr>
          <p:nvPr/>
        </p:nvSpPr>
        <p:spPr>
          <a:xfrm>
            <a:off x="361950" y="1209675"/>
            <a:ext cx="2276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5F5F"/>
                </a:solidFill>
              </a:defRPr>
            </a:pPr>
            <a:r>
              <a:rPr sz="750" b="1">
                <a:solidFill>
                  <a:srgbClr val="5F5F5F"/>
                </a:solidFill>
              </a:rPr>
              <a:t>Limitation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86382-B38E-451E-A142-C9344FEB40BE}"/>
              </a:ext>
            </a:extLst>
          </p:cNvPr>
          <p:cNvSpPr>
            <a:spLocks noGrp="1"/>
          </p:cNvSpPr>
          <p:nvPr/>
        </p:nvSpPr>
        <p:spPr>
          <a:xfrm>
            <a:off x="2790825" y="1209675"/>
            <a:ext cx="27527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5F5F"/>
                </a:solidFill>
              </a:defRPr>
            </a:pPr>
            <a:r>
              <a:rPr sz="750" b="1">
                <a:solidFill>
                  <a:srgbClr val="5F5F5F"/>
                </a:solidFill>
              </a:rPr>
              <a:t>Current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D321D7-E597-40E5-8830-3D49A0A79910}"/>
              </a:ext>
            </a:extLst>
          </p:cNvPr>
          <p:cNvSpPr>
            <a:spLocks noGrp="1"/>
          </p:cNvSpPr>
          <p:nvPr/>
        </p:nvSpPr>
        <p:spPr>
          <a:xfrm>
            <a:off x="5695950" y="1209675"/>
            <a:ext cx="3086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5F5F"/>
                </a:solidFill>
              </a:defRPr>
            </a:pPr>
            <a:r>
              <a:rPr sz="750" b="1">
                <a:solidFill>
                  <a:srgbClr val="5F5F5F"/>
                </a:solidFill>
              </a:rPr>
              <a:t>Implication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FC9FBCC5-4770-44D3-97FB-CBC7DEB6AC5C}"/>
              </a:ext>
            </a:extLst>
          </p:cNvPr>
          <p:cNvSpPr>
            <a:spLocks noGrp="1"/>
          </p:cNvSpPr>
          <p:nvPr/>
        </p:nvSpPr>
        <p:spPr>
          <a:xfrm>
            <a:off x="285750" y="152400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E554B0-2DA8-432E-8B2F-21CEF4F03E2F}"/>
              </a:ext>
            </a:extLst>
          </p:cNvPr>
          <p:cNvSpPr>
            <a:spLocks noGrp="1"/>
          </p:cNvSpPr>
          <p:nvPr/>
        </p:nvSpPr>
        <p:spPr>
          <a:xfrm>
            <a:off x="361950" y="164782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Geography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009F08-74A6-453D-9ADD-9232DD6D06FB}"/>
              </a:ext>
            </a:extLst>
          </p:cNvPr>
          <p:cNvSpPr>
            <a:spLocks noGrp="1"/>
          </p:cNvSpPr>
          <p:nvPr/>
        </p:nvSpPr>
        <p:spPr>
          <a:xfrm>
            <a:off x="2790825" y="164782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Validated only in South Florida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5BFF39-7E38-475B-8F3E-AEF17CDEA2CF}"/>
              </a:ext>
            </a:extLst>
          </p:cNvPr>
          <p:cNvSpPr>
            <a:spLocks noGrp="1"/>
          </p:cNvSpPr>
          <p:nvPr/>
        </p:nvSpPr>
        <p:spPr>
          <a:xfrm>
            <a:off x="5695950" y="164782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Test transferability in other metros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FD81BDE7-0050-4246-B61A-107E81D204B8}"/>
              </a:ext>
            </a:extLst>
          </p:cNvPr>
          <p:cNvSpPr>
            <a:spLocks noGrp="1"/>
          </p:cNvSpPr>
          <p:nvPr/>
        </p:nvSpPr>
        <p:spPr>
          <a:xfrm>
            <a:off x="285750" y="203835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8E4EF4-9758-421E-BC29-AAF3CD03E557}"/>
              </a:ext>
            </a:extLst>
          </p:cNvPr>
          <p:cNvSpPr>
            <a:spLocks noGrp="1"/>
          </p:cNvSpPr>
          <p:nvPr/>
        </p:nvSpPr>
        <p:spPr>
          <a:xfrm>
            <a:off x="361950" y="216217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4E4738-2749-4A0E-997A-3E9E45B95202}"/>
              </a:ext>
            </a:extLst>
          </p:cNvPr>
          <p:cNvSpPr>
            <a:spLocks noGrp="1"/>
          </p:cNvSpPr>
          <p:nvPr/>
        </p:nvSpPr>
        <p:spPr>
          <a:xfrm>
            <a:off x="2790825" y="216217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Public data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BC3BB3-CB68-4C76-B2CB-ED5DBFC3BECE}"/>
              </a:ext>
            </a:extLst>
          </p:cNvPr>
          <p:cNvSpPr>
            <a:spLocks noGrp="1"/>
          </p:cNvSpPr>
          <p:nvPr/>
        </p:nvSpPr>
        <p:spPr>
          <a:xfrm>
            <a:off x="5695950" y="216217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Proprietary market data may add signal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0684FC59-ECAE-4A28-AEE3-EB58B78C953D}"/>
              </a:ext>
            </a:extLst>
          </p:cNvPr>
          <p:cNvSpPr>
            <a:spLocks noGrp="1"/>
          </p:cNvSpPr>
          <p:nvPr/>
        </p:nvSpPr>
        <p:spPr>
          <a:xfrm>
            <a:off x="285750" y="255270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519A26-A995-413E-BACE-1F508071774D}"/>
              </a:ext>
            </a:extLst>
          </p:cNvPr>
          <p:cNvSpPr>
            <a:spLocks noGrp="1"/>
          </p:cNvSpPr>
          <p:nvPr/>
        </p:nvSpPr>
        <p:spPr>
          <a:xfrm>
            <a:off x="361950" y="267652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Time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96D8E9-B0A6-4E4C-A9F6-22E46B9D276E}"/>
              </a:ext>
            </a:extLst>
          </p:cNvPr>
          <p:cNvSpPr>
            <a:spLocks noGrp="1"/>
          </p:cNvSpPr>
          <p:nvPr/>
        </p:nvSpPr>
        <p:spPr>
          <a:xfrm>
            <a:off x="2790825" y="267652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Static suitability snapshot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12A534-5ED7-453D-A7F5-A4F617AE4108}"/>
              </a:ext>
            </a:extLst>
          </p:cNvPr>
          <p:cNvSpPr>
            <a:spLocks noGrp="1"/>
          </p:cNvSpPr>
          <p:nvPr/>
        </p:nvSpPr>
        <p:spPr>
          <a:xfrm>
            <a:off x="5695950" y="267652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Retrain and extend toward forecasting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4E2D4942-8F04-4520-AAB5-EF431B6F81E8}"/>
              </a:ext>
            </a:extLst>
          </p:cNvPr>
          <p:cNvSpPr>
            <a:spLocks noGrp="1"/>
          </p:cNvSpPr>
          <p:nvPr/>
        </p:nvSpPr>
        <p:spPr>
          <a:xfrm>
            <a:off x="285750" y="3067050"/>
            <a:ext cx="8572500" cy="0"/>
          </a:xfrm>
          <a:prstGeom prst="line">
            <a:avLst/>
          </a:prstGeom>
          <a:ln w="7620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FB6B70-9501-4ED1-BFBF-D4FE067DD3FB}"/>
              </a:ext>
            </a:extLst>
          </p:cNvPr>
          <p:cNvSpPr>
            <a:spLocks noGrp="1"/>
          </p:cNvSpPr>
          <p:nvPr/>
        </p:nvSpPr>
        <p:spPr>
          <a:xfrm>
            <a:off x="361950" y="3190875"/>
            <a:ext cx="2257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171717"/>
                </a:solidFill>
              </a:defRPr>
            </a:pPr>
            <a:r>
              <a:rPr sz="900" b="1">
                <a:solidFill>
                  <a:srgbClr val="171717"/>
                </a:solidFill>
              </a:rPr>
              <a:t>Decision role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B63EBE-D9EC-4C3C-BFE6-5C7E5B0C8C1E}"/>
              </a:ext>
            </a:extLst>
          </p:cNvPr>
          <p:cNvSpPr>
            <a:spLocks noGrp="1"/>
          </p:cNvSpPr>
          <p:nvPr/>
        </p:nvSpPr>
        <p:spPr>
          <a:xfrm>
            <a:off x="2790825" y="3190875"/>
            <a:ext cx="27336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Decision support tool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944E5A-5DFF-43BC-BFE7-DF2204AF5C85}"/>
              </a:ext>
            </a:extLst>
          </p:cNvPr>
          <p:cNvSpPr>
            <a:spLocks noGrp="1"/>
          </p:cNvSpPr>
          <p:nvPr/>
        </p:nvSpPr>
        <p:spPr>
          <a:xfrm>
            <a:off x="5695950" y="3190875"/>
            <a:ext cx="3067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0">
                <a:solidFill>
                  <a:srgbClr val="171717"/>
                </a:solidFill>
              </a:defRPr>
            </a:pPr>
            <a:r>
              <a:rPr sz="900" b="0">
                <a:solidFill>
                  <a:srgbClr val="171717"/>
                </a:solidFill>
              </a:rPr>
              <a:t>Does not replace professional judgment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9EC75A6D-2522-4E00-BE66-02641052AA07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7D6284-A0F8-4458-99B9-1EB5C4BC4E29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1A2AE7-1A1D-4F82-9573-F32FF69DA8B4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81854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1744CF8-1D13-48A3-BDAA-BAE1BEFC8F0C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5905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F8F8F8"/>
                </a:solidFill>
              </a:defRPr>
            </a:pPr>
            <a:r>
              <a:rPr sz="2100" b="0">
                <a:solidFill>
                  <a:srgbClr val="F8F8F8"/>
                </a:solidFill>
              </a:rPr>
              <a:t>Future work can turn the prototype into a broader decision-support platform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E0694C-4272-4AA5-AD9A-FDB84607A279}"/>
              </a:ext>
            </a:extLst>
          </p:cNvPr>
          <p:cNvSpPr>
            <a:spLocks noGrp="1"/>
          </p:cNvSpPr>
          <p:nvPr/>
        </p:nvSpPr>
        <p:spPr>
          <a:xfrm>
            <a:off x="7524750" y="753618"/>
            <a:ext cx="562356" cy="102870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F57E56-1731-4A77-A27D-3C1598C3B155}"/>
              </a:ext>
            </a:extLst>
          </p:cNvPr>
          <p:cNvSpPr>
            <a:spLocks noGrp="1"/>
          </p:cNvSpPr>
          <p:nvPr/>
        </p:nvSpPr>
        <p:spPr>
          <a:xfrm>
            <a:off x="7977378" y="438150"/>
            <a:ext cx="102870" cy="425196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D7931C0-C61C-4806-BADD-EDF8E4015272}"/>
              </a:ext>
            </a:extLst>
          </p:cNvPr>
          <p:cNvSpPr>
            <a:spLocks noGrp="1"/>
          </p:cNvSpPr>
          <p:nvPr/>
        </p:nvSpPr>
        <p:spPr>
          <a:xfrm>
            <a:off x="7771638" y="534162"/>
            <a:ext cx="315468" cy="315468"/>
          </a:xfrm>
          <a:prstGeom prst="line">
            <a:avLst/>
          </a:prstGeom>
          <a:ln w="109728">
            <a:solidFill>
              <a:srgbClr val="FFE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11492A01-BD79-4073-9698-F120A0412893}"/>
              </a:ext>
            </a:extLst>
          </p:cNvPr>
          <p:cNvSpPr>
            <a:spLocks noGrp="1"/>
          </p:cNvSpPr>
          <p:nvPr/>
        </p:nvSpPr>
        <p:spPr>
          <a:xfrm>
            <a:off x="285750" y="981075"/>
            <a:ext cx="8572500" cy="0"/>
          </a:xfrm>
          <a:prstGeom prst="line">
            <a:avLst/>
          </a:prstGeom>
          <a:ln w="9525">
            <a:solidFill>
              <a:srgbClr val="858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2FD3A-A7FD-49D8-9896-582C4F0CA194}"/>
              </a:ext>
            </a:extLst>
          </p:cNvPr>
          <p:cNvSpPr>
            <a:spLocks noGrp="1"/>
          </p:cNvSpPr>
          <p:nvPr/>
        </p:nvSpPr>
        <p:spPr>
          <a:xfrm>
            <a:off x="4629150" y="3162300"/>
            <a:ext cx="4229100" cy="142875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683E44-835B-4EA8-96DD-496A0FC588A2}"/>
              </a:ext>
            </a:extLst>
          </p:cNvPr>
          <p:cNvSpPr>
            <a:spLocks noGrp="1"/>
          </p:cNvSpPr>
          <p:nvPr/>
        </p:nvSpPr>
        <p:spPr>
          <a:xfrm>
            <a:off x="4810125" y="3371850"/>
            <a:ext cx="36671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8F8F8"/>
                </a:solidFill>
              </a:defRPr>
            </a:pPr>
            <a:r>
              <a:rPr sz="1200" b="1">
                <a:solidFill>
                  <a:srgbClr val="F8F8F8"/>
                </a:solidFill>
              </a:rPr>
              <a:t>The strongest next step is to test transferability while adding richer time-aware and scenario-based workflows.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8B38B595-C76F-4313-B26A-48282A01BDF0}"/>
              </a:ext>
            </a:extLst>
          </p:cNvPr>
          <p:cNvSpPr>
            <a:spLocks noGrp="1"/>
          </p:cNvSpPr>
          <p:nvPr/>
        </p:nvSpPr>
        <p:spPr>
          <a:xfrm>
            <a:off x="285750" y="1943100"/>
            <a:ext cx="4019550" cy="0"/>
          </a:xfrm>
          <a:prstGeom prst="line">
            <a:avLst/>
          </a:prstGeom>
          <a:ln w="762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47AADB-B284-45EE-B52D-E42771F2F595}"/>
              </a:ext>
            </a:extLst>
          </p:cNvPr>
          <p:cNvSpPr>
            <a:spLocks noGrp="1"/>
          </p:cNvSpPr>
          <p:nvPr/>
        </p:nvSpPr>
        <p:spPr>
          <a:xfrm>
            <a:off x="285750" y="1485900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E100"/>
                </a:solidFill>
              </a:defRPr>
            </a:pPr>
            <a:r>
              <a:rPr sz="900" b="1">
                <a:solidFill>
                  <a:srgbClr val="FFE100"/>
                </a:solidFill>
              </a:rPr>
              <a:t>Expand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8AC06F-A4AB-4F7B-8CE1-9E4A8DC7D31E}"/>
              </a:ext>
            </a:extLst>
          </p:cNvPr>
          <p:cNvSpPr>
            <a:spLocks noGrp="1"/>
          </p:cNvSpPr>
          <p:nvPr/>
        </p:nvSpPr>
        <p:spPr>
          <a:xfrm>
            <a:off x="1285875" y="148590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8F8F8"/>
                </a:solidFill>
              </a:defRPr>
            </a:pPr>
            <a:r>
              <a:rPr sz="975" b="0">
                <a:solidFill>
                  <a:srgbClr val="F8F8F8"/>
                </a:solidFill>
              </a:rPr>
              <a:t>Apply the framework to Atlanta, Dallas, Charlotte, Phoenix, Seattle, Chicago, and other metros.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FFB263EE-0BAD-4DE2-84AB-61648BBB23BF}"/>
              </a:ext>
            </a:extLst>
          </p:cNvPr>
          <p:cNvSpPr>
            <a:spLocks noGrp="1"/>
          </p:cNvSpPr>
          <p:nvPr/>
        </p:nvSpPr>
        <p:spPr>
          <a:xfrm>
            <a:off x="285750" y="2657475"/>
            <a:ext cx="4019550" cy="0"/>
          </a:xfrm>
          <a:prstGeom prst="line">
            <a:avLst/>
          </a:prstGeom>
          <a:ln w="762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01C369-5901-4DBD-B076-5446BF49394B}"/>
              </a:ext>
            </a:extLst>
          </p:cNvPr>
          <p:cNvSpPr>
            <a:spLocks noGrp="1"/>
          </p:cNvSpPr>
          <p:nvPr/>
        </p:nvSpPr>
        <p:spPr>
          <a:xfrm>
            <a:off x="285750" y="2200275"/>
            <a:ext cx="876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E100"/>
                </a:solidFill>
              </a:defRPr>
            </a:pPr>
            <a:r>
              <a:rPr sz="900" b="1">
                <a:solidFill>
                  <a:srgbClr val="FFE100"/>
                </a:solidFill>
              </a:rPr>
              <a:t>Enrich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5AB7B8-A992-4C88-AA8F-523E754E6BC9}"/>
              </a:ext>
            </a:extLst>
          </p:cNvPr>
          <p:cNvSpPr>
            <a:spLocks noGrp="1"/>
          </p:cNvSpPr>
          <p:nvPr/>
        </p:nvSpPr>
        <p:spPr>
          <a:xfrm>
            <a:off x="1285875" y="2200275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8F8F8"/>
                </a:solidFill>
              </a:defRPr>
            </a:pPr>
            <a:r>
              <a:rPr sz="975" b="0">
                <a:solidFill>
                  <a:srgbClr val="F8F8F8"/>
                </a:solidFill>
              </a:rPr>
              <a:t>Evaluate lease rates, occupancy, mobility, permits, zoning, and parcel-level indicators.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9C6FA9AC-88DE-4F84-BE13-6F0004960F9D}"/>
              </a:ext>
            </a:extLst>
          </p:cNvPr>
          <p:cNvSpPr>
            <a:spLocks noGrp="1"/>
          </p:cNvSpPr>
          <p:nvPr/>
        </p:nvSpPr>
        <p:spPr>
          <a:xfrm>
            <a:off x="285750" y="3371850"/>
            <a:ext cx="4019550" cy="0"/>
          </a:xfrm>
          <a:prstGeom prst="line">
            <a:avLst/>
          </a:prstGeom>
          <a:ln w="7620">
            <a:solidFill>
              <a:srgbClr val="7373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6E820F-4CC2-4603-A8F8-1EDC43DB7D2E}"/>
              </a:ext>
            </a:extLst>
          </p:cNvPr>
          <p:cNvSpPr>
            <a:spLocks noGrp="1"/>
          </p:cNvSpPr>
          <p:nvPr/>
        </p:nvSpPr>
        <p:spPr>
          <a:xfrm>
            <a:off x="285750" y="2914650"/>
            <a:ext cx="936078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FFE100"/>
                </a:solidFill>
              </a:defRPr>
            </a:pPr>
            <a:r>
              <a:rPr sz="900" b="1">
                <a:solidFill>
                  <a:srgbClr val="FFE100"/>
                </a:solidFill>
              </a:rPr>
              <a:t>Operationalize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D6EFD7-D083-46B8-849E-29EDF14F84AA}"/>
              </a:ext>
            </a:extLst>
          </p:cNvPr>
          <p:cNvSpPr>
            <a:spLocks noGrp="1"/>
          </p:cNvSpPr>
          <p:nvPr/>
        </p:nvSpPr>
        <p:spPr>
          <a:xfrm>
            <a:off x="1285875" y="2914650"/>
            <a:ext cx="27813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F8F8F8"/>
                </a:solidFill>
              </a:defRPr>
            </a:pPr>
            <a:r>
              <a:rPr sz="975" b="0">
                <a:solidFill>
                  <a:srgbClr val="F8F8F8"/>
                </a:solidFill>
              </a:rPr>
              <a:t>Add scenario analysis, reporting, saved searches, and recurring data updates.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5FE7A57-2805-4900-9DDD-881A43D6D008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6E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E9BBD8-03CE-4EF8-85E4-5530CD01994E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Prospex CRE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6BDBEC-1D2C-4D16-9D2A-85510792A31D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D8D8D8"/>
                </a:solidFill>
              </a:defRPr>
            </a:pPr>
            <a:r>
              <a:rPr sz="525" b="0">
                <a:solidFill>
                  <a:srgbClr val="D8D8D8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69706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3F22723-7997-4691-A8F7-4F6A5F359E48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581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171717"/>
                </a:solidFill>
              </a:defRPr>
            </a:pPr>
            <a:r>
              <a:rPr sz="1950" b="0">
                <a:solidFill>
                  <a:srgbClr val="171717"/>
                </a:solidFill>
              </a:rPr>
              <a:t>The conclusion is that ML augments GIS rather than replacing it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75A2569-D89E-4F81-94C4-8AA697936577}"/>
              </a:ext>
            </a:extLst>
          </p:cNvPr>
          <p:cNvSpPr>
            <a:spLocks noGrp="1"/>
          </p:cNvSpPr>
          <p:nvPr/>
        </p:nvSpPr>
        <p:spPr>
          <a:xfrm>
            <a:off x="285750" y="1123950"/>
            <a:ext cx="8572500" cy="0"/>
          </a:xfrm>
          <a:prstGeom prst="line">
            <a:avLst/>
          </a:prstGeom>
          <a:ln w="9525">
            <a:solidFill>
              <a:srgbClr val="A6A6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515900-5629-4BC0-BCCE-91487C786C4C}"/>
              </a:ext>
            </a:extLst>
          </p:cNvPr>
          <p:cNvSpPr>
            <a:spLocks noGrp="1"/>
          </p:cNvSpPr>
          <p:nvPr/>
        </p:nvSpPr>
        <p:spPr>
          <a:xfrm>
            <a:off x="800100" y="1600200"/>
            <a:ext cx="361950" cy="361950"/>
          </a:xfrm>
          <a:prstGeom prst="rect">
            <a:avLst/>
          </a:prstGeom>
          <a:solidFill>
            <a:srgbClr val="FFE10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10E3FA-0A61-471C-8A1A-13804DA790EB}"/>
              </a:ext>
            </a:extLst>
          </p:cNvPr>
          <p:cNvSpPr>
            <a:spLocks noGrp="1"/>
          </p:cNvSpPr>
          <p:nvPr/>
        </p:nvSpPr>
        <p:spPr>
          <a:xfrm>
            <a:off x="86677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050505"/>
                </a:solidFill>
              </a:defRPr>
            </a:pPr>
            <a:r>
              <a:rPr sz="750" b="1">
                <a:solidFill>
                  <a:srgbClr val="050505"/>
                </a:solidFill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7CD277-FD57-4D25-A0A0-D68B2ABA57D1}"/>
              </a:ext>
            </a:extLst>
          </p:cNvPr>
          <p:cNvSpPr>
            <a:spLocks noGrp="1"/>
          </p:cNvSpPr>
          <p:nvPr/>
        </p:nvSpPr>
        <p:spPr>
          <a:xfrm>
            <a:off x="34290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Controlled comparison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C76A9D-39D6-45E6-97CA-58B991D13F73}"/>
              </a:ext>
            </a:extLst>
          </p:cNvPr>
          <p:cNvSpPr>
            <a:spLocks noGrp="1"/>
          </p:cNvSpPr>
          <p:nvPr/>
        </p:nvSpPr>
        <p:spPr>
          <a:xfrm>
            <a:off x="5715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Every method used the same explanatory variables, so performance differences reflect modeling approach.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FC46B6-3F18-45FA-AA0D-0140508687C2}"/>
              </a:ext>
            </a:extLst>
          </p:cNvPr>
          <p:cNvSpPr>
            <a:spLocks noGrp="1"/>
          </p:cNvSpPr>
          <p:nvPr/>
        </p:nvSpPr>
        <p:spPr>
          <a:xfrm>
            <a:off x="3524250" y="1600200"/>
            <a:ext cx="361950" cy="36195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436006-A7DD-419B-93D9-02288234B816}"/>
              </a:ext>
            </a:extLst>
          </p:cNvPr>
          <p:cNvSpPr>
            <a:spLocks noGrp="1"/>
          </p:cNvSpPr>
          <p:nvPr/>
        </p:nvSpPr>
        <p:spPr>
          <a:xfrm>
            <a:off x="359092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8F8F8"/>
                </a:solidFill>
              </a:defRPr>
            </a:pPr>
            <a:r>
              <a:rPr sz="750" b="1">
                <a:solidFill>
                  <a:srgbClr val="F8F8F8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CF6A8B-BC74-48FD-995D-F579C043E37B}"/>
              </a:ext>
            </a:extLst>
          </p:cNvPr>
          <p:cNvSpPr>
            <a:spLocks noGrp="1"/>
          </p:cNvSpPr>
          <p:nvPr/>
        </p:nvSpPr>
        <p:spPr>
          <a:xfrm>
            <a:off x="306705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Best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77837-4972-4707-AACD-93B1F2057E0F}"/>
              </a:ext>
            </a:extLst>
          </p:cNvPr>
          <p:cNvSpPr>
            <a:spLocks noGrp="1"/>
          </p:cNvSpPr>
          <p:nvPr/>
        </p:nvSpPr>
        <p:spPr>
          <a:xfrm>
            <a:off x="278130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Spatially Weighted Random Forest achieved the strongest overall performance in the tournament.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0A9CFA-A2F0-4A0A-A1D8-96D8E1332501}"/>
              </a:ext>
            </a:extLst>
          </p:cNvPr>
          <p:cNvSpPr>
            <a:spLocks noGrp="1"/>
          </p:cNvSpPr>
          <p:nvPr/>
        </p:nvSpPr>
        <p:spPr>
          <a:xfrm>
            <a:off x="6248400" y="1600200"/>
            <a:ext cx="361950" cy="361950"/>
          </a:xfrm>
          <a:prstGeom prst="rect">
            <a:avLst/>
          </a:prstGeom>
          <a:solidFill>
            <a:srgbClr val="FF9C2A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59B1AB-CACF-4F8A-941C-318057E48641}"/>
              </a:ext>
            </a:extLst>
          </p:cNvPr>
          <p:cNvSpPr>
            <a:spLocks noGrp="1"/>
          </p:cNvSpPr>
          <p:nvPr/>
        </p:nvSpPr>
        <p:spPr>
          <a:xfrm>
            <a:off x="6315075" y="169545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F8F8F8"/>
                </a:solidFill>
              </a:defRPr>
            </a:pPr>
            <a:r>
              <a:rPr sz="750" b="1">
                <a:solidFill>
                  <a:srgbClr val="F8F8F8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D98F82-087D-47F2-A0BF-9B9D0D22729E}"/>
              </a:ext>
            </a:extLst>
          </p:cNvPr>
          <p:cNvSpPr>
            <a:spLocks noGrp="1"/>
          </p:cNvSpPr>
          <p:nvPr/>
        </p:nvSpPr>
        <p:spPr>
          <a:xfrm>
            <a:off x="5791200" y="2238375"/>
            <a:ext cx="1352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71717"/>
                </a:solidFill>
              </a:defRPr>
            </a:pPr>
            <a:r>
              <a:rPr sz="1200" b="1">
                <a:solidFill>
                  <a:srgbClr val="171717"/>
                </a:solidFill>
              </a:rPr>
              <a:t>Usable output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7E1B87-236E-4500-94EF-C3826E73D441}"/>
              </a:ext>
            </a:extLst>
          </p:cNvPr>
          <p:cNvSpPr>
            <a:spLocks noGrp="1"/>
          </p:cNvSpPr>
          <p:nvPr/>
        </p:nvSpPr>
        <p:spPr>
          <a:xfrm>
            <a:off x="5505450" y="2781300"/>
            <a:ext cx="1924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0">
                <a:solidFill>
                  <a:srgbClr val="5F5F5F"/>
                </a:solidFill>
              </a:defRPr>
            </a:pPr>
            <a:r>
              <a:rPr sz="825" b="0">
                <a:solidFill>
                  <a:srgbClr val="5F5F5F"/>
                </a:solidFill>
              </a:rPr>
              <a:t>SHAP and the web app make the final predictions explainable and actionable.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3290066-153A-4C9F-A881-1BEC5E32E146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FA03FF-E32A-4644-8859-AF9FC401A3CC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A0A348-3B1E-400B-97CA-FC8609274C92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52105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1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E2F6195-FD05-4602-8241-7A4511CAA8CF}"/>
              </a:ext>
            </a:extLst>
          </p:cNvPr>
          <p:cNvSpPr>
            <a:spLocks noGrp="1"/>
          </p:cNvSpPr>
          <p:nvPr/>
        </p:nvSpPr>
        <p:spPr>
          <a:xfrm>
            <a:off x="285750" y="323850"/>
            <a:ext cx="2857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0">
                <a:solidFill>
                  <a:srgbClr val="050505"/>
                </a:solidFill>
              </a:defRPr>
            </a:pPr>
            <a:r>
              <a:rPr sz="2550" b="0">
                <a:solidFill>
                  <a:srgbClr val="050505"/>
                </a:solidFill>
              </a:rPr>
              <a:t>Q&amp;A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3B736F53-2411-4D37-9824-574100D3CC66}"/>
              </a:ext>
            </a:extLst>
          </p:cNvPr>
          <p:cNvSpPr>
            <a:spLocks noGrp="1"/>
          </p:cNvSpPr>
          <p:nvPr/>
        </p:nvSpPr>
        <p:spPr>
          <a:xfrm>
            <a:off x="285750" y="962025"/>
            <a:ext cx="2857500" cy="0"/>
          </a:xfrm>
          <a:prstGeom prst="line">
            <a:avLst/>
          </a:prstGeom>
          <a:ln w="952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1BE9C6-168F-4DA8-A456-42E79D0929A9}"/>
              </a:ext>
            </a:extLst>
          </p:cNvPr>
          <p:cNvSpPr>
            <a:spLocks noGrp="1"/>
          </p:cNvSpPr>
          <p:nvPr/>
        </p:nvSpPr>
        <p:spPr>
          <a:xfrm>
            <a:off x="285750" y="12192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50505"/>
                </a:solidFill>
              </a:defRPr>
            </a:pPr>
            <a:r>
              <a:rPr sz="1200" b="1">
                <a:solidFill>
                  <a:srgbClr val="050505"/>
                </a:solidFill>
              </a:rPr>
              <a:t>Any questions?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D2A37B-4975-487B-91D9-D3EE6FF681F7}"/>
              </a:ext>
            </a:extLst>
          </p:cNvPr>
          <p:cNvSpPr>
            <a:spLocks noGrp="1"/>
          </p:cNvSpPr>
          <p:nvPr/>
        </p:nvSpPr>
        <p:spPr>
          <a:xfrm>
            <a:off x="285750" y="3429000"/>
            <a:ext cx="342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050505"/>
                </a:solidFill>
              </a:defRPr>
            </a:pPr>
            <a:r>
              <a:rPr sz="975" b="0">
                <a:solidFill>
                  <a:srgbClr val="050505"/>
                </a:solidFill>
              </a:rPr>
              <a:t>Prospex CRE connects GIS, machine learning, explainable AI, and interactive mapping to support evidence-based commercial real estate site selection.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2D6B13-E9B7-42EE-9AF3-3CD1F51A50B0}"/>
              </a:ext>
            </a:extLst>
          </p:cNvPr>
          <p:cNvSpPr>
            <a:spLocks noGrp="1"/>
          </p:cNvSpPr>
          <p:nvPr/>
        </p:nvSpPr>
        <p:spPr>
          <a:xfrm>
            <a:off x="4953000" y="1143000"/>
            <a:ext cx="3238500" cy="2381250"/>
          </a:xfrm>
          <a:prstGeom prst="rect">
            <a:avLst/>
          </a:prstGeom>
          <a:solidFill>
            <a:srgbClr val="F8F8F8"/>
          </a:solidFill>
          <a:ln w="9525">
            <a:solidFill>
              <a:srgbClr val="05050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7DDD5C-5435-411A-A818-99BE76CB233C}"/>
              </a:ext>
            </a:extLst>
          </p:cNvPr>
          <p:cNvSpPr>
            <a:spLocks noGrp="1"/>
          </p:cNvSpPr>
          <p:nvPr/>
        </p:nvSpPr>
        <p:spPr>
          <a:xfrm>
            <a:off x="5924550" y="2598420"/>
            <a:ext cx="1405890" cy="257175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E4AB53-A4AB-4235-BC94-2EDB03D54438}"/>
              </a:ext>
            </a:extLst>
          </p:cNvPr>
          <p:cNvSpPr>
            <a:spLocks noGrp="1"/>
          </p:cNvSpPr>
          <p:nvPr/>
        </p:nvSpPr>
        <p:spPr>
          <a:xfrm>
            <a:off x="7056120" y="1809750"/>
            <a:ext cx="257175" cy="1062990"/>
          </a:xfrm>
          <a:prstGeom prst="rect">
            <a:avLst/>
          </a:prstGeom>
          <a:solidFill>
            <a:srgbClr val="2542F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72E8B06D-3D5D-4CF5-AFB1-3A1E93021208}"/>
              </a:ext>
            </a:extLst>
          </p:cNvPr>
          <p:cNvSpPr>
            <a:spLocks noGrp="1"/>
          </p:cNvSpPr>
          <p:nvPr/>
        </p:nvSpPr>
        <p:spPr>
          <a:xfrm>
            <a:off x="6541770" y="2049780"/>
            <a:ext cx="788670" cy="788670"/>
          </a:xfrm>
          <a:prstGeom prst="line">
            <a:avLst/>
          </a:prstGeom>
          <a:ln w="274320">
            <a:solidFill>
              <a:srgbClr val="254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21F408E5-53A4-449D-86F1-64356B9FB5A7}"/>
              </a:ext>
            </a:extLst>
          </p:cNvPr>
          <p:cNvSpPr>
            <a:spLocks noGrp="1"/>
          </p:cNvSpPr>
          <p:nvPr/>
        </p:nvSpPr>
        <p:spPr>
          <a:xfrm>
            <a:off x="285750" y="4762500"/>
            <a:ext cx="8572500" cy="0"/>
          </a:xfrm>
          <a:prstGeom prst="line">
            <a:avLst/>
          </a:prstGeom>
          <a:ln w="7620">
            <a:solidFill>
              <a:srgbClr val="A8A8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19574B-5AD7-4C21-9DD5-1CFF4F171953}"/>
              </a:ext>
            </a:extLst>
          </p:cNvPr>
          <p:cNvSpPr>
            <a:spLocks noGrp="1"/>
          </p:cNvSpPr>
          <p:nvPr/>
        </p:nvSpPr>
        <p:spPr>
          <a:xfrm>
            <a:off x="285750" y="4838700"/>
            <a:ext cx="17145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Prospex CRE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D74920-C118-4096-8950-795828022DD9}"/>
              </a:ext>
            </a:extLst>
          </p:cNvPr>
          <p:cNvSpPr>
            <a:spLocks noGrp="1"/>
          </p:cNvSpPr>
          <p:nvPr/>
        </p:nvSpPr>
        <p:spPr>
          <a:xfrm>
            <a:off x="4457700" y="4838700"/>
            <a:ext cx="2286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525" b="0">
                <a:solidFill>
                  <a:srgbClr val="5F5F5F"/>
                </a:solidFill>
              </a:defRPr>
            </a:pPr>
            <a:r>
              <a:rPr sz="525" b="0">
                <a:solidFill>
                  <a:srgbClr val="5F5F5F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3783358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1242</Words>
  <Application>Microsoft Macintosh PowerPoint</Application>
  <DocSecurity>0</DocSecurity>
  <PresentationFormat>On-screen Show (16:9)</PresentationFormat>
  <Paragraphs>245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Jules, Pitney Ady</cp:lastModifiedBy>
  <cp:revision>3</cp:revision>
  <dcterms:created xsi:type="dcterms:W3CDTF">2026-07-13T23:32:26Z</dcterms:created>
  <dcterms:modified xsi:type="dcterms:W3CDTF">2026-07-13T23:48:38Z</dcterms:modified>
</cp:coreProperties>
</file>